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领域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88F"/>
              </a:solidFill>
              <a:effectLst/>
            </c:spPr>
          </c:dPt>
          <c:dPt>
            <c:idx val="1"/>
            <c:bubble3D val="0"/>
            <c:spPr>
              <a:solidFill>
                <a:srgbClr val="C75D2C"/>
              </a:solidFill>
              <a:effectLst/>
            </c:spPr>
          </c:dPt>
          <c:dPt>
            <c:idx val="2"/>
            <c:bubble3D val="0"/>
            <c:spPr>
              <a:solidFill>
                <a:srgbClr val="2D8659"/>
              </a:solidFill>
              <a:effectLst/>
            </c:spPr>
          </c:dPt>
          <c:dPt>
            <c:idx val="3"/>
            <c:bubble3D val="0"/>
            <c:spPr>
              <a:solidFill>
                <a:srgbClr val="8B6DC7"/>
              </a:solidFill>
              <a:effectLst/>
            </c:spPr>
          </c:dPt>
          <c:dPt>
            <c:idx val="4"/>
            <c:bubble3D val="0"/>
            <c:spPr>
              <a:solidFill>
                <a:srgbClr val="E0A04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HBV功能性治愈</c:v>
                </c:pt>
                <c:pt idx="1">
                  <c:v>HBV现有治疗</c:v>
                </c:pt>
                <c:pt idx="2">
                  <c:v>HBV→HCC</c:v>
                </c:pt>
                <c:pt idx="3">
                  <c:v>HCC全病程</c:v>
                </c:pt>
                <c:pt idx="4">
                  <c:v>指南与共识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32</c:v>
                </c:pt>
                <c:pt idx="1">
                  <c:v>9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篇数</c:v>
                </c:pt>
              </c:strCache>
            </c:strRef>
          </c:tx>
          <c:spPr>
            <a:solidFill>
              <a:srgbClr val="0068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肝癌筛查与监测</c:v>
                  </c:pt>
                  <c:pt idx="1">
                    <c:v>肝癌风险预测</c:v>
                  </c:pt>
                  <c:pt idx="2">
                    <c:v>衣壳抑制剂</c:v>
                  </c:pt>
                  <c:pt idx="3">
                    <c:v>特殊人群</c:v>
                  </c:pt>
                  <c:pt idx="4">
                    <c:v>治疗性疫苗</c:v>
                  </c:pt>
                  <c:pt idx="5">
                    <c:v>真实世界研究</c:v>
                  </c:pt>
                  <c:pt idx="6">
                    <c:v>停药策略</c:v>
                  </c:pt>
                  <c:pt idx="7">
                    <c:v>siRNA/ASO</c:v>
                  </c:pt>
                  <c:pt idx="8">
                    <c:v>聚乙二醇干扰素</c:v>
                  </c:pt>
                  <c:pt idx="9">
                    <c:v>优势人群筛选</c:v>
                  </c:pt>
                  <c:pt idx="10">
                    <c:v>核苷（酸）类似物</c:v>
                  </c:pt>
                  <c:pt idx="11">
                    <c:v>免疫调节</c:v>
                  </c:pt>
                  <c:pt idx="12">
                    <c:v>联合治疗</c:v>
                  </c:pt>
                  <c:pt idx="13">
                    <c:v>生物标志物</c:v>
                  </c:pt>
                  <c:pt idx="14">
                    <c:v>HBsAg清除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C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清除率%</c:v>
                </c:pt>
              </c:strCache>
            </c:strRef>
          </c:tx>
          <c:spPr>
            <a:solidFill>
              <a:srgbClr val="0068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初治CHB</c:v>
                  </c:pt>
                  <c:pt idx="1">
                    <c:v>NAs经治患者</c:v>
                  </c:pt>
                  <c:pt idx="2">
                    <c:v>儿童CHB</c:v>
                  </c:pt>
                  <c:pt idx="3">
                    <c:v>总体</c:v>
                  </c:pt>
                  <c:pt idx="4">
                    <c:v>非活动性携带者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21</c:v>
                </c:pt>
                <c:pt idx="2">
                  <c:v>22</c:v>
                </c:pt>
                <c:pt idx="3">
                  <c:v>16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D4DDE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C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市场价值</c:v>
                </c:pt>
              </c:strCache>
            </c:strRef>
          </c:tx>
          <c:spPr>
            <a:solidFill>
              <a:srgbClr val="0068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PegIFNα推广</c:v>
                  </c:pt>
                  <c:pt idx="1">
                    <c:v>qHBsAg生态</c:v>
                  </c:pt>
                  <c:pt idx="2">
                    <c:v>TAF定位</c:v>
                  </c:pt>
                  <c:pt idx="3">
                    <c:v>HCC分层监测</c:v>
                  </c:pt>
                  <c:pt idx="4">
                    <c:v>新药管线监测</c:v>
                  </c:pt>
                  <c:pt idx="5">
                    <c:v>停药监测</c:v>
                  </c:pt>
                  <c:pt idx="6">
                    <c:v>HCC免疫联合</c:v>
                  </c:pt>
                  <c:pt idx="7">
                    <c:v>预测模型工具化</c:v>
                  </c:pt>
                  <c:pt idx="8">
                    <c:v>纤维化动态监测</c:v>
                  </c:pt>
                  <c:pt idx="9">
                    <c:v>长期预后推广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</c:v>
                </c:pt>
                <c:pt idx="1">
                  <c:v>80</c:v>
                </c:pt>
                <c:pt idx="2">
                  <c:v>70</c:v>
                </c:pt>
                <c:pt idx="3">
                  <c:v>78</c:v>
                </c:pt>
                <c:pt idx="4">
                  <c:v>65</c:v>
                </c:pt>
                <c:pt idx="5">
                  <c:v>62</c:v>
                </c:pt>
                <c:pt idx="6">
                  <c:v>55</c:v>
                </c:pt>
                <c:pt idx="7">
                  <c:v>75</c:v>
                </c:pt>
                <c:pt idx="8">
                  <c:v>58</c:v>
                </c:pt>
                <c:pt idx="9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C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2011680" cy="2011680"/>
          </a:xfrm>
          <a:prstGeom prst="ellipse">
            <a:avLst/>
          </a:prstGeom>
          <a:solidFill>
            <a:srgbClr val="004A6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3017520"/>
            <a:ext cx="1371600" cy="1371600"/>
          </a:xfrm>
          <a:prstGeom prst="ellipse">
            <a:avLst/>
          </a:prstGeom>
          <a:solidFill>
            <a:srgbClr val="004A6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乙肝筛诊治康文献洞察报告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基于49篇国际文献与行业洞察，面向中央市场部的产品策略分析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005A78"/>
          </a:solidFill>
          <a:ln w="12700">
            <a:solidFill>
              <a:srgbClr val="008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56032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005A78"/>
          </a:solidFill>
          <a:ln w="12700">
            <a:solidFill>
              <a:srgbClr val="008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256032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005A78"/>
          </a:solidFill>
          <a:ln w="12700">
            <a:solidFill>
              <a:srgbClr val="008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56032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005A78"/>
          </a:solidFill>
          <a:ln w="12700">
            <a:solidFill>
              <a:srgbClr val="008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康复管理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256032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005A78"/>
          </a:solidFill>
          <a:ln w="12700">
            <a:solidFill>
              <a:srgbClr val="008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功能性治愈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数据来源：飞书多维表格 · HBV文献主表（49条）+ 行业洞察表（2条）· 2026-08-27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翰森制药 · 中央市场部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报告概览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文献库全景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本报告基于飞书多维表格中的HBV文献主表（49条）和行业洞察表（2条），围绕乙肝的筛、诊、治、康四个维度提炼产品策略洞察。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0688F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45920"/>
            <a:ext cx="1828800" cy="54864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文献总量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645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C75D2C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645920"/>
            <a:ext cx="1828800" cy="54864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212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功能性治愈相关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D8659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45920"/>
            <a:ext cx="1828800" cy="54864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86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212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高中国市场相关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645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0688F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1645920"/>
            <a:ext cx="1828800" cy="54864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75120" y="212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国际研究来源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E8F0F2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97480"/>
            <a:ext cx="54864" cy="146304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297180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库以HBV功能性治愈为绝对核心（65%），其中HBsAg清除（26篇）和新型生物标志物（12篇）是最高频主题。现有治疗优化和HBV→HCC监测是次要焦点。12篇标注中国市场相关性为'高'，主要集中在基于中国患者数据的研究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18872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报告概览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图1：文献一级领域分布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137160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1463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1737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功能性治愈占绝对主导（65%），是产品策略的核心战场。现有治疗优化（18%）和HCC监测（8%）构成次要焦点。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651760"/>
            <a:ext cx="3017520" cy="18288"/>
          </a:xfrm>
          <a:prstGeom prst="rect">
            <a:avLst/>
          </a:prstGeom>
          <a:solidFill>
            <a:srgbClr val="D4DDE5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26974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市场启示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0" y="29260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功能性治愈领域文献密度最高，意味着临床证据基础最雄厚，推广阻力最小。应将功能性治愈作为产品推广的核心叙事。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18872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报告概览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图2：文献二级主题热力分布（Top 15）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 · 筛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qHBsAg检测与优势人群筛选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54864" cy="137160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qHBsAg检测实施率仅37.4%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西班牙全国调查显示基层缺口巨大（&lt;200床医院0%），认知不足（57.1%）是主要障碍。中国市场同样存在巨大缺口。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143000"/>
            <a:ext cx="54864" cy="1371600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多维预测指标组合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417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基线HBsAg&lt;100 IU/mL（HR=0.32）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HBsAg亚型SHBs（HR 0.205）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APRI/FIB-4纤维化分层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HBV DNA整合检测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FBEAE0"/>
          </a:solidFill>
          <a:ln w="12700">
            <a:solidFill>
              <a:srgbClr val="C75D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HCC监测策略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HBsAg清除后HCC风险仍存在，'一刀切'监测不适用。需从'统一监测'转向基于风险分层的个体化监测方案。HCC监测产品需求不因功能性治愈推进而缩减，反而需要分层工具。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 · 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新型生物标志物与预测模型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标志物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临床定位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证据等级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qHBsAg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治疗监测·停药决策·优势人群筛选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HBsAg亚型(SHBs)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停药后清除预测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75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HBV 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反映cccDNA转录活性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75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HBcrAg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定义CHB阶段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75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APRI/FIB-4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非侵入性纤维化评估·全程监测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8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114300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E8F2EC"/>
          </a:solidFill>
          <a:ln w="12700">
            <a:solidFill>
              <a:srgbClr val="2D86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143000"/>
            <a:ext cx="54864" cy="1371600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1188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中国预测模型（n=859）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32120" y="1417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纳入基线HBsAg、AST、联合中药、ETV方案四变量，AUC=0.884。联合中药是独立预测因素（OR=3.83）——中国临床特色。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94960" y="265176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26974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GIFT项目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3212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中国22中心前瞻性，300例NAs经治患者。基于qHBsAg动力学预测指数（Pi）分层。假设清除率35% vs 20%。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69748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8F0F2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术语革新趋势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29718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'已解决的慢性感染'替代'功能性治愈'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'持续控制'替代'部分治愈'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影响临床终点、监管沟通、市场话术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 · 治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图4：PegIFNα不同人群HBsAg清除率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8" name="Shape 5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市场策略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PegIFNα推广应聚焦优势人群——非活动性携带者（57%）和NAs经治患者（21%）是核心目标。中国非活动性携带者比例较高，市场潜力巨大。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880360"/>
            <a:ext cx="2560320" cy="18288"/>
          </a:xfrm>
          <a:prstGeom prst="rect">
            <a:avLst/>
          </a:prstGeom>
          <a:solidFill>
            <a:srgbClr val="D4DDE5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关键数据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115项研究荟萃分析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总体清除率16%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优势人群可达57%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 · 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新药管线与联合治疗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8229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药物/平台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机制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核心数据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Bepirovirsen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6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II期完成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剂量依赖性HBsAg下降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AHB-137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未缀合ASO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75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I期完成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下降0.7-1.0 log10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Xalnesiran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68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48%达NA停药标准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治疗性疫苗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病毒载体/蛋白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75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I/II期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联合siRNA+IFN≈50%清除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14300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FBEAE0"/>
          </a:solidFill>
          <a:ln w="12700">
            <a:solidFill>
              <a:srgbClr val="C75D2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143000"/>
            <a:ext cx="54864" cy="1554480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1188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联合治疗是必由之路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14173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siRNA+PEG-IFN+疫苗联合方案报告约50% HBsAg丢失率——文献库最高清除率。单一产品效果有限。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8F0F2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926080"/>
            <a:ext cx="54864" cy="109728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停药策略与HCC治疗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320040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Xalnesiran停药后60%维持停药，48%病毒学复发但均恢复。有限疗程范式催生停药后高敏检测需求。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HCC免疫联合：17项RCT支持免疫+靶向优于索拉非尼，中国已批准Sintilimab-BevSim和Camrelizumab-Rivoceranib。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7" name="Shape 14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 · 康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康复管理与长期健康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功能性治愈不等于'一劳永逸'——治愈后的健康管理需求不降反升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54864" cy="731520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HCC分层监测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HBsAg清除后风险仍在，从'统一监测'转向风险分层个体化方案。年龄、肝硬化、HBV DNA整合、家族史为风险因素。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67712"/>
            <a:ext cx="54864" cy="7315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13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停药后管理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4203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Xalnesiran停药后48%复发但60%维持停药。催生高敏HBV DNA&lt;10 IU/mL + qHBsAg动态 + ALT监测产品组合。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72384"/>
            <a:ext cx="54864" cy="731520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18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86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纤维化逆转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Peg-IFN联合NAs治疗42.98%患者纤维化改善，晚期纤维化组达95%。APRI/FIB-4从诊断升级为全程动态监测工具。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77056"/>
            <a:ext cx="54864" cy="7315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227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长期预后数据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15137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西班牙36年队列（n=453）：HBsAg清除与更好长期肝脏预后相关。可作为功能性治愈推广核心素材。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 · 策略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高优先级行动建议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3931920" cy="54864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2801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D8C8"/>
          </a:solidFill>
          <a:ln w="9525">
            <a:solidFill>
              <a:srgbClr val="C75D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80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PegIFNα优势人群精准推广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非活动性携带者清除率57%、NAs经治21%。已有2个中国预测模型可工具化。行动：从'广覆盖'转向精准筛选。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12801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D8C8"/>
          </a:solidFill>
          <a:ln w="9525">
            <a:solidFill>
              <a:srgbClr val="C75D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80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06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qHBsAg检测生态建设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实施率仅37.4%，贯穿筛诊治康全链路。行动：标准化方案下沉基层+医学教育+新型标志物布局。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8803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D8C8"/>
          </a:solidFill>
          <a:ln w="9525">
            <a:solidFill>
              <a:srgbClr val="C75D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TAF差异化定位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TAF在HBsAg下降方面优于ETV，优势在年轻无肝硬化患者。行动：构建'TAF抑制+PegIFNα清除'序贯方案推广。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743200"/>
            <a:ext cx="3931920" cy="54864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8803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F5D8C8"/>
          </a:solidFill>
          <a:ln w="9525">
            <a:solidFill>
              <a:srgbClr val="C75D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8803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006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HCC分层监测产品升级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HBsAg清除后HCC风险仍在。行动：开发风险分层工具，从'统一方案'升级为'个体化方案'。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 · 策略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中优先级行动建议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3931920" cy="54864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2801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D5E5EA"/>
          </a:solidFill>
          <a:ln w="9525">
            <a:solidFill>
              <a:srgbClr val="006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80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新药管线竞争监测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ASO/siRNA进展最快。跟踪Bepirovirsen III期+中国亚组，评估互补/竞争关系。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12801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D5E5EA"/>
          </a:solidFill>
          <a:ln w="9525">
            <a:solidFill>
              <a:srgbClr val="0068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80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06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HCC风险分层监测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从'统一方案'转向'个体化方案'，开发基于风险因素的HCC监测分层工具。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8803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D5E5EA"/>
          </a:solidFill>
          <a:ln w="9525">
            <a:solidFill>
              <a:srgbClr val="0068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停药后监测产品线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布局高敏HBV DNA&lt;10 + qHBsAg动态 + ALT组合，推动APRI/FIB-4纤维化逆转监测。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D0E0E4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743200"/>
            <a:ext cx="3931920" cy="54864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880360"/>
            <a:ext cx="731520" cy="228600"/>
          </a:xfrm>
          <a:prstGeom prst="roundRect">
            <a:avLst>
              <a:gd name="adj" fmla="val 16000"/>
            </a:avLst>
          </a:prstGeom>
          <a:solidFill>
            <a:srgbClr val="D5E5EA"/>
          </a:solidFill>
          <a:ln w="9525">
            <a:solidFill>
              <a:srgbClr val="0068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8803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006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HCC免疫联合治疗强化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中国本土产品有竞争力，强化HBV相关HCC差异化定位+真实世界研究。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 · 策略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观察项 · 持续关注但暂不行动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3931920" cy="54864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28016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DCEBE0"/>
          </a:solidFill>
          <a:ln w="9525">
            <a:solidFill>
              <a:srgbClr val="2D86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术语革新与监管沟通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学术界提出用'已解决的慢性感染'替代'功能性治愈'。需持续关注是否被指南采纳，提前准备话术转换。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50800" dist="0" dir="16200000">
              <a:srgbClr val="D0E0E4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128016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DCEBE0"/>
          </a:solidFill>
          <a:ln w="9525">
            <a:solidFill>
              <a:srgbClr val="2D86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80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COVID-19疫苗与HBsAg消失的关联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韩国59,946例显示疫苗接种后HBsAg消失率短暂升高（IRR=1.56）。证据有限，暂作观察。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02920"/>
          </a:xfrm>
          <a:prstGeom prst="roundRect">
            <a:avLst>
              <a:gd name="adj" fmla="val 7273"/>
            </a:avLst>
          </a:prstGeom>
          <a:solidFill>
            <a:srgbClr val="E8F0F2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033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两个观察项均不影响当前行动节奏，但需保持跟踪，为未来话术调整和临床解读做好准备。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18872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图6：筛诊治康全链路产品机会矩阵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36576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四维核心结论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109728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07008"/>
            <a:ext cx="384048" cy="384048"/>
          </a:xfrm>
          <a:prstGeom prst="ellipse">
            <a:avLst/>
          </a:prstGeom>
          <a:solidFill>
            <a:srgbClr val="00688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1430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检测标准化 + 预测模型工具化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3898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qHBsAg缺口大，多维标志物组合取代单一指标，HCC监测转向风险分层个体化。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84248"/>
            <a:ext cx="384048" cy="384048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模型工具化 + 标志物检测 + 话术标准化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1671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2个中国本土模型可商业化，新型标志物从研究走向临床，术语体系正在革新。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61488"/>
            <a:ext cx="384048" cy="384048"/>
          </a:xfrm>
          <a:prstGeom prst="ellipse">
            <a:avLst/>
          </a:prstGeom>
          <a:solidFill>
            <a:srgbClr val="2D865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6974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86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PegIFNα精准推广 + 新药竞争监测 + 联合定位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9443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优势人群清除率57%，ASO/siRNA进展最快，联合治疗是必由之路，停药催生检测需求。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38100" dist="0" dir="16200000">
              <a:srgbClr val="E8F0F2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00688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康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4747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8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分层监测 + 停药管理 + 纤维化动态 + 长期数据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7216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治愈≠一劳永逸，HCC风险仍在需分层监测，APRI/FIB-4升级全程监测，36年队列赋能推广。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988052"/>
            <a:ext cx="18288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68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solidFill>
            <a:srgbClr val="004A68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3017520"/>
            <a:ext cx="1188720" cy="1188720"/>
          </a:xfrm>
          <a:prstGeom prst="ellipse">
            <a:avLst/>
          </a:prstGeom>
          <a:solidFill>
            <a:srgbClr val="004A6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乙肝筛诊治康文献洞察报告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49篇文献 · 6张图表 · 10项策略行动建议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翰森制药 · 中央市场部 · 2026-08-27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本报告由 Trae Work 基于飞书多维表格数据自动生成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988052"/>
            <a:ext cx="9144000" cy="45720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乙肝筛诊治康文献洞察报告</dc:title>
  <dc:subject>PptxGenJS Presentation</dc:subject>
  <dc:creator>TRAE Work</dc:creator>
  <cp:lastModifiedBy>TRAE Work</cp:lastModifiedBy>
  <cp:revision>1</cp:revision>
  <dcterms:created xsi:type="dcterms:W3CDTF">2026-08-27T05:51:19Z</dcterms:created>
  <dcterms:modified xsi:type="dcterms:W3CDTF">2026-08-27T05:51:19Z</dcterms:modified>
</cp:coreProperties>
</file>