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乙肝筛诊治康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spc="150" kern="0" dirty="0">
                <a:solidFill>
                  <a:srgbClr val="B0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市场部产品策略行动卡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274320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8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基于49篇国际文献与2条行业洞察的策略提炼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80160" y="347472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04A68"/>
          </a:solidFill>
          <a:ln w="19050">
            <a:solidFill>
              <a:srgbClr val="C75D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 × 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347472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04A68"/>
          </a:solidFill>
          <a:ln w="19050">
            <a:solidFill>
              <a:srgbClr val="0068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中优先级 × 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347472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04A68"/>
          </a:solidFill>
          <a:ln w="19050">
            <a:solidFill>
              <a:srgbClr val="2D86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 ×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2026-08-27 · 中央市场部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015484"/>
            <a:ext cx="9144000" cy="54864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15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策略行动卡目录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基于筛诊治康四维度文献洞察的10项策略行动建议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" cy="256032"/>
          </a:xfrm>
          <a:prstGeom prst="ellipse">
            <a:avLst/>
          </a:prstGeom>
          <a:solidFill>
            <a:srgbClr val="C75D2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筛·治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83080" y="141732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C75D2C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141732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23160" y="14173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PegIFNα优势人群精准推广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55648"/>
            <a:ext cx="256032" cy="256032"/>
          </a:xfrm>
          <a:prstGeom prst="ellipse">
            <a:avLst/>
          </a:prstGeom>
          <a:solidFill>
            <a:srgbClr val="C75D2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556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7556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筛·诊·康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83080" y="175564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C75D2C"/>
          </a:solidFill>
          <a:ln/>
        </p:spPr>
      </p:sp>
      <p:sp>
        <p:nvSpPr>
          <p:cNvPr id="15" name="Text 13"/>
          <p:cNvSpPr/>
          <p:nvPr/>
        </p:nvSpPr>
        <p:spPr>
          <a:xfrm>
            <a:off x="1783080" y="175564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23160" y="175564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qHBsAg检测生态建设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093976"/>
            <a:ext cx="256032" cy="256032"/>
          </a:xfrm>
          <a:prstGeom prst="ellipse">
            <a:avLst/>
          </a:prstGeom>
          <a:solidFill>
            <a:srgbClr val="C75D2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093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0939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83080" y="2093976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C75D2C"/>
          </a:solidFill>
          <a:ln/>
        </p:spPr>
      </p:sp>
      <p:sp>
        <p:nvSpPr>
          <p:cNvPr id="21" name="Text 19"/>
          <p:cNvSpPr/>
          <p:nvPr/>
        </p:nvSpPr>
        <p:spPr>
          <a:xfrm>
            <a:off x="1783080" y="209397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423160" y="209397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TAF在功能性治愈目标人群中的差异化定位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432304"/>
            <a:ext cx="256032" cy="256032"/>
          </a:xfrm>
          <a:prstGeom prst="ellipse">
            <a:avLst/>
          </a:prstGeom>
          <a:solidFill>
            <a:srgbClr val="C75D2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24323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康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783080" y="243230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C75D2C"/>
          </a:solidFill>
          <a:ln/>
        </p:spPr>
      </p:sp>
      <p:sp>
        <p:nvSpPr>
          <p:cNvPr id="27" name="Text 25"/>
          <p:cNvSpPr/>
          <p:nvPr/>
        </p:nvSpPr>
        <p:spPr>
          <a:xfrm>
            <a:off x="1783080" y="243230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423160" y="243230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HBsAg清除后HCC分层监测产品升级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770632"/>
            <a:ext cx="256032" cy="256032"/>
          </a:xfrm>
          <a:prstGeom prst="ellipse">
            <a:avLst/>
          </a:prstGeom>
          <a:solidFill>
            <a:srgbClr val="00688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770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27706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83080" y="2770632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688F"/>
          </a:solidFill>
          <a:ln/>
        </p:spPr>
      </p:sp>
      <p:sp>
        <p:nvSpPr>
          <p:cNvPr id="33" name="Text 31"/>
          <p:cNvSpPr/>
          <p:nvPr/>
        </p:nvSpPr>
        <p:spPr>
          <a:xfrm>
            <a:off x="1783080" y="277063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423160" y="27706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新药管线竞争监测与布局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108960"/>
            <a:ext cx="256032" cy="256032"/>
          </a:xfrm>
          <a:prstGeom prst="ellipse">
            <a:avLst/>
          </a:prstGeom>
          <a:solidFill>
            <a:srgbClr val="00688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108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31089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康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83080" y="310896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688F"/>
          </a:solidFill>
          <a:ln/>
        </p:spPr>
      </p:sp>
      <p:sp>
        <p:nvSpPr>
          <p:cNvPr id="39" name="Text 37"/>
          <p:cNvSpPr/>
          <p:nvPr/>
        </p:nvSpPr>
        <p:spPr>
          <a:xfrm>
            <a:off x="1783080" y="31089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423160" y="31089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HCC风险分层监测产品升级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3447288"/>
            <a:ext cx="256032" cy="256032"/>
          </a:xfrm>
          <a:prstGeom prst="ellipse">
            <a:avLst/>
          </a:prstGeom>
          <a:solidFill>
            <a:srgbClr val="00688F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4472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" y="34472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治·康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783080" y="344728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688F"/>
          </a:solidFill>
          <a:ln/>
        </p:spPr>
      </p:sp>
      <p:sp>
        <p:nvSpPr>
          <p:cNvPr id="45" name="Text 43"/>
          <p:cNvSpPr/>
          <p:nvPr/>
        </p:nvSpPr>
        <p:spPr>
          <a:xfrm>
            <a:off x="1783080" y="34472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423160" y="344728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停药后监测产品线与纤维化动态监测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3785616"/>
            <a:ext cx="256032" cy="256032"/>
          </a:xfrm>
          <a:prstGeom prst="ellipse">
            <a:avLst/>
          </a:prstGeom>
          <a:solidFill>
            <a:srgbClr val="00688F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3785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" y="37856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783080" y="3785616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688F"/>
          </a:solidFill>
          <a:ln/>
        </p:spPr>
      </p:sp>
      <p:sp>
        <p:nvSpPr>
          <p:cNvPr id="51" name="Text 49"/>
          <p:cNvSpPr/>
          <p:nvPr/>
        </p:nvSpPr>
        <p:spPr>
          <a:xfrm>
            <a:off x="1783080" y="37856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423160" y="378561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HCC免疫联合治疗市场强化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4123944"/>
            <a:ext cx="256032" cy="256032"/>
          </a:xfrm>
          <a:prstGeom prst="ellipse">
            <a:avLst/>
          </a:prstGeom>
          <a:solidFill>
            <a:srgbClr val="2D8659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1239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22960" y="412394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诊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783080" y="412394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2D8659"/>
          </a:solidFill>
          <a:ln/>
        </p:spPr>
      </p:sp>
      <p:sp>
        <p:nvSpPr>
          <p:cNvPr id="57" name="Text 55"/>
          <p:cNvSpPr/>
          <p:nvPr/>
        </p:nvSpPr>
        <p:spPr>
          <a:xfrm>
            <a:off x="1783080" y="41239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423160" y="412394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术语革新与监管沟通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57200" y="4462272"/>
            <a:ext cx="256032" cy="256032"/>
          </a:xfrm>
          <a:prstGeom prst="ellipse">
            <a:avLst/>
          </a:prstGeom>
          <a:solidFill>
            <a:srgbClr val="2D8659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4462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22960" y="4462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783080" y="4462272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2D8659"/>
          </a:solidFill>
          <a:ln/>
        </p:spPr>
      </p:sp>
      <p:sp>
        <p:nvSpPr>
          <p:cNvPr id="63" name="Text 61"/>
          <p:cNvSpPr/>
          <p:nvPr/>
        </p:nvSpPr>
        <p:spPr>
          <a:xfrm>
            <a:off x="1783080" y="44622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423160" y="44622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COVID-19疫苗与HBsAg消失的关联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688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FDF0EA"/>
          </a:solidFill>
          <a:ln w="12700">
            <a:solidFill>
              <a:srgbClr val="C75D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 · 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320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PegIFNα优势人群精准推广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37160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0020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0688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系统评价（115项研究）显示非活动性携带者HBsAg清除率57%、NAs经治患者21%，远高于初治患者5%。中国已有2个基于本土数据的预测模型（859例回顾性模型AUC=0.884 + GIFT前瞻性项目22中心）可工具化。联合中药方案是独立预测因素（OR=3.83），体现中国临床特色。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2D865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 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将PegIFNα推广重心从"广覆盖"转向"精准筛选优势人群"；将预测模型开发为临床决策支持工具，作为医学教育核心抓手；联合中药方案（OR=3.83）可作为中国特色推广点。目标群体：非活动性携带者 + NAs经治患者。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688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FDF0EA"/>
          </a:solidFill>
          <a:ln w="12700">
            <a:solidFill>
              <a:srgbClr val="C75D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 · 诊 · 治 · 康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320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qHBsAg检测生态建设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37160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0020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0688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班牙全国调查显示qHBsAg检测实施率仅37.4%，基层缺口巨大（&lt;200床医院0%）。临床需求认知不足（57.1%）是主要障碍。qHBsAg是停药决策、优势人群筛选、治疗监测、HCC风险分层的核心标志物，贯穿筛诊治康全链路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2D865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 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推动qHBsAg检测标准化方案下沉基层；配套医学教育（检测适应症、报告解读、临床决策路径）；评估SHBs、HBV RNA、HBcrAg等新型标志物检测产品布局，构建"检测-解读-决策"全链条教育体系。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688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FDF0EA"/>
          </a:solidFill>
          <a:ln w="12700">
            <a:solidFill>
              <a:srgbClr val="C75D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320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TAF在功能性治愈目标人群中的差异化定位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37160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0020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0688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多中心倾向评分匹配研究（ETV n=491, TAF n=463，匹配后各334例）显示TAF组HBsAg下降幅度在4年内显著大于ETV组。优势在年龄&lt;65岁、无肝硬化、基线HBsAg≥3.0 log IU/mL的患者中更显著。TAF和ETV均为中国医保覆盖一线药物。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2D865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 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针对追求功能性治愈的年轻、无肝硬化患者，强化TAF在HBsAg动力学方面的优势教育；结合PegIFNα联合治疗路径，构建"TAF抑制+PegIFNα清除"的序贯治疗方案推广。需注意研究为观察性设计，未报告清除率。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688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FDF0EA"/>
          </a:solidFill>
          <a:ln w="12700">
            <a:solidFill>
              <a:srgbClr val="C75D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5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康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320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HBsAg清除后HCC分层监测产品升级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37160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0020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0688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篇顶级期刊编辑评论明确指出HBsAg清除后HCC风险仍在，需个体化分层监测；长期NAs抑制10年后是否可降级HCC监测仍存争议。36年队列研究（n=453）证实HBsAg清除与更好的长期肝脏预后相关。HCC监测产品需求不因功能性治愈推进而缩减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2D865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 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开发基于风险因素（年龄、肝硬化状态、HBV DNA整合、家族史）的HCC分层监测工具；将AFP+影像学推广从"统一方案"升级为"个体化方案"；利用36年队列数据作为功能性治愈理念推广的核心素材。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688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EAF4F8"/>
          </a:solidFill>
          <a:ln w="12700">
            <a:solidFill>
              <a:srgbClr val="0068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中优先级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320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新药管线竞争监测与布局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371600" cy="2743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0020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0688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ASO/siRNA管线进展最快：Bepirovirsen（ASO，II期完成）、AHB-137（未缀合ASO，I期完成，HBsAg下降0.7-1.0 log10）、Xalnesiran（siRNA，II期，48%达NA停药标准）。衣壳抑制剂（ALG-001075）和单抗（mAb19-LS、HBVZ10）处于早期。联合治疗是共识方向。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2D865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 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密切跟踪Bepirovirsen III期和中国亚组数据；评估ASO/siRNA与现有PegIFNα产品的互补/竞争关系；关注SPHERE试验（PegIFNα作为ASO/siRNA后挽救治疗）结果，可能为PegIFNα创造新适应症机会。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688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EAF4F8"/>
          </a:solidFill>
          <a:ln w="12700">
            <a:solidFill>
              <a:srgbClr val="0068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中优先级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康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320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HCC风险分层监测产品升级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371600" cy="2743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0020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0688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HBsAg清除后HCC风险仍存在但需个体化分层；长期NAs抑制后是否降级监测存争议。HCC监测产品需求不因功能性治愈推进而缩减，反而需要从"统一监测"转向基于风险因素的个体化分层监测方案。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2D865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 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开发基于风险因素（年龄、肝硬化状态、HBV DNA整合、家族史）的HCC监测分层工具；将AFP检测+影像学推广从"统一方案"升级为"个体化方案"；跟踪HCC风险预测模型研究进展。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688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EAF4F8"/>
          </a:solidFill>
          <a:ln w="12700">
            <a:solidFill>
              <a:srgbClr val="0068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中优先级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 · 康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320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停药后监测产品线与纤维化动态监测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371600" cy="2743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0020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0688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nesiran停药后48%病毒学复发但60%维持停药——有限疗程范式催生停药后高敏检测需求。Peg-IFN联合NAs治疗42.98%患者纤维化改善，晚期纤维化/肝硬化组改善比例达95.00%。APRI/FIB-4可从"一次性诊断"升级为"全程动态监测工具"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2D865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 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布局停药后监测产品组合（高敏HBV DNA&lt;10 IU/mL + qHBsAg动态 + ALT）；推动APRI/FIB-4在治疗后纤维化逆转监测中的应用；开发停药管理患者教育工具（发作识别、自我监测指征）。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688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EAF4F8"/>
          </a:solidFill>
          <a:ln w="12700">
            <a:solidFill>
              <a:srgbClr val="0068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中优先级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91640" y="320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320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HCC免疫联合治疗市场强化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371600" cy="27432"/>
          </a:xfrm>
          <a:prstGeom prst="rect">
            <a:avLst/>
          </a:prstGeom>
          <a:solidFill>
            <a:srgbClr val="00688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0020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0688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网络荟萃分析（17项III期RCT，12,727例）支持免疫+靶向联合优于索拉非尼。HBV病因亚组中Atezolizumab-Cabozantinib排名最高。中国已批准Sintilimab-BevSim和Camrelizumab-Rivoceranib，在OS上均优于索拉非尼。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2D865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 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强化中国本土HCC免疫联合产品在HBV相关HCC中的差异化定位；开展真实世界研究验证中国患者疗效；关注HBV相关HCC的精准治疗生物标志物，推动个体化治疗决策。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688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6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50" kern="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观察项 · 持续关注但暂不行动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2D86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50800" dist="0" dir="16200000">
              <a:srgbClr val="0000002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840480" cy="54864"/>
          </a:xfrm>
          <a:prstGeom prst="rect">
            <a:avLst/>
          </a:prstGeom>
          <a:solidFill>
            <a:srgbClr val="2D865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术语革新与监管沟通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学术界提出用"已解决的慢性感染"替代"功能性治愈"，用"持续控制"替代"部分治愈"，而"治愈"仅保留用于清除或沉默所有cccDNA和整合HBV DNA。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需持续关注是否被国际指南和中国指南采纳，提前准备话术转换和监管沟通策略，但暂不主动变更市场话术。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8404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4DDE5"/>
            </a:solidFill>
            <a:prstDash val="solid"/>
          </a:ln>
          <a:effectLst>
            <a:outerShdw sx="100000" sy="100000" kx="0" ky="0" algn="bl" rotWithShape="0" blurRad="50800" dist="0" dir="16200000">
              <a:srgbClr val="00000020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3840480" cy="54864"/>
          </a:xfrm>
          <a:prstGeom prst="rect">
            <a:avLst/>
          </a:prstGeom>
          <a:solidFill>
            <a:srgbClr val="2D865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COVID-19疫苗与HBsAg消失的关联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韩国中断时间序列分析（n=59,946）显示COVID-19疫苗接种后HBsAg消失率短暂升高（IRR=1.56），随后减弱。提示免疫调节可能影响HBV动力学。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154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证据等级有限，暂作观察。若免疫调节可影响HBV动力学，可能为联合治疗策略提供新思路。中国广泛接种背景下需关注对HBsAg监测结果解读的影响。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D8659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四维总结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C75D2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qHBsAg检测标准化 + 多维标志物组合 + HCC风险分层个体化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55648"/>
            <a:ext cx="457200" cy="457200"/>
          </a:xfrm>
          <a:prstGeom prst="ellipse">
            <a:avLst/>
          </a:prstGeom>
          <a:solidFill>
            <a:srgbClr val="C75D2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5564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中国数据预测模型工具化 + 新型标志物产品线 + 术语标准化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14016"/>
            <a:ext cx="457200" cy="457200"/>
          </a:xfrm>
          <a:prstGeom prst="ellipse">
            <a:avLst/>
          </a:prstGeom>
          <a:solidFill>
            <a:srgbClr val="C75D2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14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41401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PegIFNα精准推广 + 新药竞争监测 + 联合方案定位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72384"/>
            <a:ext cx="457200" cy="457200"/>
          </a:xfrm>
          <a:prstGeom prst="ellipse">
            <a:avLst/>
          </a:prstGeom>
          <a:solidFill>
            <a:srgbClr val="C75D2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07238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HCC分层监测 + 停药后监测 + 纤维化动态监测 + 长期预后数据赋能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931920"/>
            <a:ext cx="2743200" cy="27432"/>
          </a:xfrm>
          <a:prstGeom prst="rect">
            <a:avLst/>
          </a:prstGeom>
          <a:solidFill>
            <a:srgbClr val="C75D2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基于49篇文献 · 10项策略行动建议 · 中央市场部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5015484"/>
            <a:ext cx="9144000" cy="54864"/>
          </a:xfrm>
          <a:prstGeom prst="rect">
            <a:avLst/>
          </a:prstGeom>
          <a:solidFill>
            <a:srgbClr val="C75D2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乙肝筛诊治康 · 市场部产品策略行动卡</dc:title>
  <dc:subject>PptxGenJS Presentation</dc:subject>
  <dc:creator>TRAE Work</dc:creator>
  <cp:lastModifiedBy>TRAE Work</cp:lastModifiedBy>
  <cp:revision>1</cp:revision>
  <dcterms:created xsi:type="dcterms:W3CDTF">2026-08-27T05:21:34Z</dcterms:created>
  <dcterms:modified xsi:type="dcterms:W3CDTF">2026-08-27T05:21:34Z</dcterms:modified>
</cp:coreProperties>
</file>