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恒沐®疗效</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HBV DNA抑制率</c:v>
                  </c:pt>
                  <c:pt idx="1">
                    <c:v>HBeAg转阴率</c:v>
                  </c:pt>
                  <c:pt idx="2">
                    <c:v>骨密度稳定率</c:v>
                  </c:pt>
                  <c:pt idx="3">
                    <c:v>病毒学耐药率</c:v>
                  </c:pt>
                </c:lvl>
              </c:multiLvlStrCache>
            </c:multiLvlStrRef>
          </c:cat>
          <c:val>
            <c:numRef>
              <c:f>Sheet1!$B$2:$B$5</c:f>
              <c:numCache>
                <c:formatCode>General</c:formatCode>
                <c:ptCount val="4"/>
                <c:pt idx="0">
                  <c:v>95</c:v>
                </c:pt>
                <c:pt idx="1">
                  <c:v>68</c:v>
                </c:pt>
                <c:pt idx="2">
                  <c:v>80</c:v>
                </c:pt>
                <c:pt idx="3">
                  <c:v>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HBsAg清除率</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非活动性携带者</c:v>
                  </c:pt>
                  <c:pt idx="1">
                    <c:v>NAs经治患者</c:v>
                  </c:pt>
                  <c:pt idx="2">
                    <c:v>联合中药</c:v>
                  </c:pt>
                  <c:pt idx="3">
                    <c:v>NAs初治</c:v>
                  </c:pt>
                </c:lvl>
              </c:multiLvlStrCache>
            </c:multiLvlStrRef>
          </c:cat>
          <c:val>
            <c:numRef>
              <c:f>Sheet1!$B$2:$B$5</c:f>
              <c:numCache>
                <c:formatCode>General</c:formatCode>
                <c:ptCount val="4"/>
                <c:pt idx="0">
                  <c:v>57</c:v>
                </c:pt>
                <c:pt idx="1">
                  <c:v>21</c:v>
                </c:pt>
                <c:pt idx="2">
                  <c:v>45</c:v>
                </c:pt>
                <c:pt idx="3">
                  <c:v>15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实施率</c:v>
                </c:pt>
              </c:strCache>
            </c:strRef>
          </c:tx>
          <c:spPr>
            <a:solidFill>
              <a:srgbClr val="E874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西班牙全国</c:v>
                  </c:pt>
                </c:lvl>
              </c:multiLvlStrCache>
            </c:multiLvlStrRef>
          </c:cat>
          <c:val>
            <c:numRef>
              <c:f>Sheet1!$B$2:$B$2</c:f>
              <c:numCache>
                <c:formatCode>General</c:formatCode>
                <c:ptCount val="1"/>
                <c:pt idx="0">
                  <c:v>37.4</c:v>
                </c:pt>
              </c:numCache>
            </c:numRef>
          </c:val>
        </c:ser>
        <c:ser>
          <c:idx val="1"/>
          <c:order val="1"/>
          <c:tx>
            <c:strRef>
              <c:f>Sheet1!$C$1</c:f>
              <c:strCache>
                <c:ptCount val="1"/>
                <c:pt idx="0">
                  <c:v>认知不足比例</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西班牙全国</c:v>
                  </c:pt>
                </c:lvl>
              </c:multiLvlStrCache>
            </c:multiLvlStrRef>
          </c:cat>
          <c:val>
            <c:numRef>
              <c:f>Sheet1!$C$2:$C$2</c:f>
              <c:numCache>
                <c:formatCode>General</c:formatCode>
                <c:ptCount val="1"/>
                <c:pt idx="0">
                  <c:v>57.1</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恒沐® TMF</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ALT复常率</c:v>
                  </c:pt>
                </c:lvl>
              </c:multiLvlStrCache>
            </c:multiLvlStrRef>
          </c:cat>
          <c:val>
            <c:numRef>
              <c:f>Sheet1!$B$2:$B$2</c:f>
              <c:numCache>
                <c:formatCode>General</c:formatCode>
                <c:ptCount val="1"/>
                <c:pt idx="0">
                  <c:v>86.8</c:v>
                </c:pt>
              </c:numCache>
            </c:numRef>
          </c:val>
        </c:ser>
        <c:ser>
          <c:idx val="1"/>
          <c:order val="1"/>
          <c:tx>
            <c:strRef>
              <c:f>Sheet1!$C$1</c:f>
              <c:strCache>
                <c:ptCount val="1"/>
                <c:pt idx="0">
                  <c:v>TAF</c:v>
                </c:pt>
              </c:strCache>
            </c:strRef>
          </c:tx>
          <c:spPr>
            <a:solidFill>
              <a:srgbClr val="E874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ALT复常率</c:v>
                  </c:pt>
                </c:lvl>
              </c:multiLvlStrCache>
            </c:multiLvlStrRef>
          </c:cat>
          <c:val>
            <c:numRef>
              <c:f>Sheet1!$C$2:$C$2</c:f>
              <c:numCache>
                <c:formatCode>General</c:formatCode>
                <c:ptCount val="1"/>
                <c:pt idx="0">
                  <c:v>76.9</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HBsAg清除组</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良好肝脏预后率</c:v>
                  </c:pt>
                </c:lvl>
              </c:multiLvlStrCache>
            </c:multiLvlStrRef>
          </c:cat>
          <c:val>
            <c:numRef>
              <c:f>Sheet1!$B$2:$B$2</c:f>
              <c:numCache>
                <c:formatCode>General</c:formatCode>
                <c:ptCount val="1"/>
                <c:pt idx="0">
                  <c:v>78</c:v>
                </c:pt>
              </c:numCache>
            </c:numRef>
          </c:val>
        </c:ser>
        <c:ser>
          <c:idx val="1"/>
          <c:order val="1"/>
          <c:tx>
            <c:strRef>
              <c:f>Sheet1!$C$1</c:f>
              <c:strCache>
                <c:ptCount val="1"/>
                <c:pt idx="0">
                  <c:v>未清除组</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良好肝脏预后率</c:v>
                  </c:pt>
                </c:lvl>
              </c:multiLvlStrCache>
            </c:multiLvlStrRef>
          </c:cat>
          <c:val>
            <c:numRef>
              <c:f>Sheet1!$C$2:$C$2</c:f>
              <c:numCache>
                <c:formatCode>General</c:formatCode>
                <c:ptCount val="1"/>
                <c:pt idx="0">
                  <c:v>52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Bepirovirsen</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HBsAg下降</c:v>
                  </c:pt>
                </c:lvl>
              </c:multiLvlStrCache>
            </c:multiLvlStrRef>
          </c:cat>
          <c:val>
            <c:numRef>
              <c:f>Sheet1!$B$2:$B$2</c:f>
              <c:numCache>
                <c:formatCode>General</c:formatCode>
                <c:ptCount val="1"/>
                <c:pt idx="0">
                  <c:v>1</c:v>
                </c:pt>
              </c:numCache>
            </c:numRef>
          </c:val>
        </c:ser>
        <c:ser>
          <c:idx val="1"/>
          <c:order val="1"/>
          <c:tx>
            <c:strRef>
              <c:f>Sheet1!$C$1</c:f>
              <c:strCache>
                <c:ptCount val="1"/>
                <c:pt idx="0">
                  <c:v>AHB-137</c:v>
                </c:pt>
              </c:strCache>
            </c:strRef>
          </c:tx>
          <c:spPr>
            <a:solidFill>
              <a:srgbClr val="E874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HBsAg下降</c:v>
                  </c:pt>
                </c:lvl>
              </c:multiLvlStrCache>
            </c:multiLvlStrRef>
          </c:cat>
          <c:val>
            <c:numRef>
              <c:f>Sheet1!$C$2:$C$2</c:f>
              <c:numCache>
                <c:formatCode>General</c:formatCode>
                <c:ptCount val="1"/>
                <c:pt idx="0">
                  <c:v>0.85</c:v>
                </c:pt>
              </c:numCache>
            </c:numRef>
          </c:val>
        </c:ser>
        <c:ser>
          <c:idx val="2"/>
          <c:order val="2"/>
          <c:tx>
            <c:strRef>
              <c:f>Sheet1!$D$1</c:f>
              <c:strCache>
                <c:ptCount val="1"/>
                <c:pt idx="0">
                  <c:v>Xalnesiran</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HBsAg下降</c:v>
                  </c:pt>
                </c:lvl>
              </c:multiLvlStrCache>
            </c:multiLvlStrRef>
          </c:cat>
          <c:val>
            <c:numRef>
              <c:f>Sheet1!$D$2:$D$2</c:f>
              <c:numCache>
                <c:formatCode>General</c:formatCode>
                <c:ptCount val="1"/>
                <c:pt idx="0">
                  <c:v>0.7</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风险因素</c:v>
                </c:pt>
              </c:strCache>
            </c:strRef>
          </c:tx>
          <c:spPr>
            <a:solidFill>
              <a:schemeClr val="accent1"/>
            </a:solidFill>
            <a:ln w="9525" cap="flat">
              <a:solidFill>
                <a:srgbClr val="F9F9F9"/>
              </a:solidFill>
              <a:prstDash val="solid"/>
              <a:round/>
            </a:ln>
            <a:effectLst/>
          </c:spPr>
          <c:dPt>
            <c:idx val="0"/>
            <c:bubble3D val="0"/>
            <c:spPr>
              <a:solidFill>
                <a:srgbClr val="0D7A6F"/>
              </a:solidFill>
              <a:effectLst/>
            </c:spPr>
          </c:dPt>
          <c:dPt>
            <c:idx val="1"/>
            <c:bubble3D val="0"/>
            <c:spPr>
              <a:solidFill>
                <a:srgbClr val="E8742C"/>
              </a:solidFill>
              <a:effectLst/>
            </c:spPr>
          </c:dPt>
          <c:dPt>
            <c:idx val="2"/>
            <c:bubble3D val="0"/>
            <c:spPr>
              <a:solidFill>
                <a:srgbClr val="2563EB"/>
              </a:solidFill>
              <a:effectLst/>
            </c:spPr>
          </c:dPt>
          <c:dPt>
            <c:idx val="3"/>
            <c:bubble3D val="0"/>
            <c:spPr>
              <a:solidFill>
                <a:srgbClr val="1A9B8E"/>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年龄&gt;40</c:v>
                </c:pt>
                <c:pt idx="1">
                  <c:v>肝硬化</c:v>
                </c:pt>
                <c:pt idx="2">
                  <c:v>HBV DNA整合</c:v>
                </c:pt>
                <c:pt idx="3">
                  <c:v>家族史</c:v>
                </c:pt>
              </c:strCache>
            </c:strRef>
          </c:cat>
          <c:val>
            <c:numRef>
              <c:f>Sheet1!$B$2:$B$5</c:f>
              <c:numCache>
                <c:ptCount val="4"/>
                <c:pt idx="0">
                  <c:v>35</c:v>
                </c:pt>
                <c:pt idx="1">
                  <c:v>30</c:v>
                </c:pt>
                <c:pt idx="2">
                  <c:v>20</c:v>
                </c:pt>
                <c:pt idx="3">
                  <c:v>15</c:v>
                </c:pt>
              </c:numCache>
            </c:numRef>
          </c:val>
        </c:ser>
        <c:firstSliceAng val="0"/>
        <c:holeSize val="50"/>
      </c:doughnutChart>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总体改善率</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纤维化改善</c:v>
                  </c:pt>
                </c:lvl>
              </c:multiLvlStrCache>
            </c:multiLvlStrRef>
          </c:cat>
          <c:val>
            <c:numRef>
              <c:f>Sheet1!$B$2:$B$2</c:f>
              <c:numCache>
                <c:formatCode>General</c:formatCode>
                <c:ptCount val="1"/>
                <c:pt idx="0">
                  <c:v>42.98</c:v>
                </c:pt>
              </c:numCache>
            </c:numRef>
          </c:val>
        </c:ser>
        <c:ser>
          <c:idx val="1"/>
          <c:order val="1"/>
          <c:tx>
            <c:strRef>
              <c:f>Sheet1!$C$1</c:f>
              <c:strCache>
                <c:ptCount val="1"/>
                <c:pt idx="0">
                  <c:v>晚期纤维化组</c:v>
                </c:pt>
              </c:strCache>
            </c:strRef>
          </c:tx>
          <c:spPr>
            <a:solidFill>
              <a:srgbClr val="E874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纤维化改善</c:v>
                  </c:pt>
                </c:lvl>
              </c:multiLvlStrCache>
            </c:multiLvlStrRef>
          </c:cat>
          <c:val>
            <c:numRef>
              <c:f>Sheet1!$C$2:$C$2</c:f>
              <c:numCache>
                <c:formatCode>General</c:formatCode>
                <c:ptCount val="1"/>
                <c:pt idx="0">
                  <c:v>95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Atezo+Cabo</c:v>
                </c:pt>
              </c:strCache>
            </c:strRef>
          </c:tx>
          <c:spPr>
            <a:solidFill>
              <a:srgbClr val="0D7A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中位OS</c:v>
                  </c:pt>
                </c:lvl>
              </c:multiLvlStrCache>
            </c:multiLvlStrRef>
          </c:cat>
          <c:val>
            <c:numRef>
              <c:f>Sheet1!$B$2:$B$2</c:f>
              <c:numCache>
                <c:formatCode>General</c:formatCode>
                <c:ptCount val="1"/>
                <c:pt idx="0">
                  <c:v>20.2</c:v>
                </c:pt>
              </c:numCache>
            </c:numRef>
          </c:val>
        </c:ser>
        <c:ser>
          <c:idx val="1"/>
          <c:order val="1"/>
          <c:tx>
            <c:strRef>
              <c:f>Sheet1!$C$1</c:f>
              <c:strCache>
                <c:ptCount val="1"/>
                <c:pt idx="0">
                  <c:v>Sinti+Bev</c:v>
                </c:pt>
              </c:strCache>
            </c:strRef>
          </c:tx>
          <c:spPr>
            <a:solidFill>
              <a:srgbClr val="E874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中位OS</c:v>
                  </c:pt>
                </c:lvl>
              </c:multiLvlStrCache>
            </c:multiLvlStrRef>
          </c:cat>
          <c:val>
            <c:numRef>
              <c:f>Sheet1!$C$2:$C$2</c:f>
              <c:numCache>
                <c:formatCode>General</c:formatCode>
                <c:ptCount val="1"/>
                <c:pt idx="0">
                  <c:v>19.5</c:v>
                </c:pt>
              </c:numCache>
            </c:numRef>
          </c:val>
        </c:ser>
        <c:ser>
          <c:idx val="2"/>
          <c:order val="2"/>
          <c:tx>
            <c:strRef>
              <c:f>Sheet1!$D$1</c:f>
              <c:strCache>
                <c:ptCount val="1"/>
                <c:pt idx="0">
                  <c:v>Sora</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Sheet1!$A$2:$A$2</c:f>
              <c:multiLvlStrCache>
                <c:ptCount val="1"/>
                <c:lvl>
                  <c:pt idx="0">
                    <c:v>中位OS</c:v>
                  </c:pt>
                </c:lvl>
              </c:multiLvlStrCache>
            </c:multiLvlStrRef>
          </c:cat>
          <c:val>
            <c:numRef>
              <c:f>Sheet1!$D$2:$D$2</c:f>
              <c:numCache>
                <c:formatCode>General</c:formatCode>
                <c:ptCount val="1"/>
                <c:pt idx="0">
                  <c:v>13</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优先级</c:v>
                </c:pt>
              </c:strCache>
            </c:strRef>
          </c:tx>
          <c:spPr>
            <a:solidFill>
              <a:schemeClr val="accent1"/>
            </a:solidFill>
            <a:ln w="9525" cap="flat">
              <a:solidFill>
                <a:srgbClr val="F9F9F9"/>
              </a:solidFill>
              <a:prstDash val="solid"/>
              <a:round/>
            </a:ln>
            <a:effectLst/>
          </c:spPr>
          <c:dPt>
            <c:idx val="0"/>
            <c:bubble3D val="0"/>
            <c:spPr>
              <a:solidFill>
                <a:srgbClr val="E8742C"/>
              </a:solidFill>
              <a:effectLst/>
            </c:spPr>
          </c:dPt>
          <c:dPt>
            <c:idx val="1"/>
            <c:bubble3D val="0"/>
            <c:spPr>
              <a:solidFill>
                <a:srgbClr val="2563EB"/>
              </a:solidFill>
              <a:effectLst/>
            </c:spPr>
          </c:dPt>
          <c:dPt>
            <c:idx val="2"/>
            <c:bubble3D val="0"/>
            <c:spPr>
              <a:solidFill>
                <a:srgbClr val="1A9B8E"/>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高优先级</c:v>
                </c:pt>
                <c:pt idx="1">
                  <c:v>中优先级</c:v>
                </c:pt>
                <c:pt idx="2">
                  <c:v>观察项</c:v>
                </c:pt>
              </c:strCache>
            </c:strRef>
          </c:cat>
          <c:val>
            <c:numRef>
              <c:f>Sheet1!$B$2:$B$4</c:f>
              <c:numCache>
                <c:ptCount val="3"/>
                <c:pt idx="0">
                  <c:v>4</c:v>
                </c:pt>
                <c:pt idx="1">
                  <c:v>4</c:v>
                </c:pt>
                <c:pt idx="2">
                  <c:v>2</c:v>
                </c:pt>
              </c:numCache>
            </c:numRef>
          </c:val>
        </c:ser>
        <c:firstSliceAng val="0"/>
        <c:holeSize val="50"/>
      </c:doughnutChart>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A6F"/>
          </a:solidFill>
          <a:ln/>
        </p:spPr>
      </p:sp>
      <p:sp>
        <p:nvSpPr>
          <p:cNvPr id="3" name="Shape 1"/>
          <p:cNvSpPr/>
          <p:nvPr/>
        </p:nvSpPr>
        <p:spPr>
          <a:xfrm>
            <a:off x="0" y="109728"/>
            <a:ext cx="2743200" cy="36576"/>
          </a:xfrm>
          <a:prstGeom prst="rect">
            <a:avLst/>
          </a:prstGeom>
          <a:solidFill>
            <a:srgbClr val="E8742C"/>
          </a:solidFill>
          <a:ln/>
        </p:spPr>
      </p:sp>
      <p:sp>
        <p:nvSpPr>
          <p:cNvPr id="4" name="Shape 2"/>
          <p:cNvSpPr/>
          <p:nvPr/>
        </p:nvSpPr>
        <p:spPr>
          <a:xfrm>
            <a:off x="2743200" y="109728"/>
            <a:ext cx="1828800" cy="36576"/>
          </a:xfrm>
          <a:prstGeom prst="rect">
            <a:avLst/>
          </a:prstGeom>
          <a:solidFill>
            <a:srgbClr val="2563EB"/>
          </a:solidFill>
          <a:ln/>
        </p:spPr>
      </p:sp>
      <p:sp>
        <p:nvSpPr>
          <p:cNvPr id="5" name="Shape 3"/>
          <p:cNvSpPr/>
          <p:nvPr/>
        </p:nvSpPr>
        <p:spPr>
          <a:xfrm>
            <a:off x="6858000" y="365760"/>
            <a:ext cx="2011680" cy="2011680"/>
          </a:xfrm>
          <a:prstGeom prst="ellipse">
            <a:avLst/>
          </a:prstGeom>
          <a:solidFill>
            <a:srgbClr val="F0F8F7"/>
          </a:solidFill>
          <a:ln/>
        </p:spPr>
      </p:sp>
      <p:sp>
        <p:nvSpPr>
          <p:cNvPr id="6" name="Shape 4"/>
          <p:cNvSpPr/>
          <p:nvPr/>
        </p:nvSpPr>
        <p:spPr>
          <a:xfrm>
            <a:off x="7498080" y="731520"/>
            <a:ext cx="1371600" cy="1371600"/>
          </a:xfrm>
          <a:prstGeom prst="ellipse">
            <a:avLst/>
          </a:prstGeom>
          <a:solidFill>
            <a:srgbClr val="E8F4F2"/>
          </a:solidFill>
          <a:ln/>
        </p:spPr>
      </p:sp>
      <p:sp>
        <p:nvSpPr>
          <p:cNvPr id="7" name="Shape 5"/>
          <p:cNvSpPr/>
          <p:nvPr/>
        </p:nvSpPr>
        <p:spPr>
          <a:xfrm>
            <a:off x="91440" y="3017520"/>
            <a:ext cx="1371600" cy="1371600"/>
          </a:xfrm>
          <a:prstGeom prst="ellipse">
            <a:avLst/>
          </a:prstGeom>
          <a:solidFill>
            <a:srgbClr val="FFF5EB"/>
          </a:solidFill>
          <a:ln/>
        </p:spPr>
      </p:sp>
      <p:sp>
        <p:nvSpPr>
          <p:cNvPr id="8" name="Shape 6"/>
          <p:cNvSpPr/>
          <p:nvPr/>
        </p:nvSpPr>
        <p:spPr>
          <a:xfrm>
            <a:off x="365760" y="3383280"/>
            <a:ext cx="822960" cy="822960"/>
          </a:xfrm>
          <a:prstGeom prst="ellipse">
            <a:avLst/>
          </a:prstGeom>
          <a:solidFill>
            <a:srgbClr val="FBE8D5"/>
          </a:solidFill>
          <a:ln/>
        </p:spPr>
      </p:sp>
      <p:sp>
        <p:nvSpPr>
          <p:cNvPr id="9" name="Shape 7"/>
          <p:cNvSpPr/>
          <p:nvPr/>
        </p:nvSpPr>
        <p:spPr>
          <a:xfrm>
            <a:off x="2926080" y="502920"/>
            <a:ext cx="3291840" cy="384048"/>
          </a:xfrm>
          <a:prstGeom prst="roundRect">
            <a:avLst>
              <a:gd name="adj" fmla="val 19048"/>
            </a:avLst>
          </a:prstGeom>
          <a:solidFill>
            <a:srgbClr val="0D7A6F"/>
          </a:solidFill>
          <a:ln/>
        </p:spPr>
      </p:sp>
      <p:sp>
        <p:nvSpPr>
          <p:cNvPr id="10" name="Text 8"/>
          <p:cNvSpPr/>
          <p:nvPr/>
        </p:nvSpPr>
        <p:spPr>
          <a:xfrm>
            <a:off x="2926080" y="502920"/>
            <a:ext cx="3291840" cy="384048"/>
          </a:xfrm>
          <a:prstGeom prst="rect">
            <a:avLst/>
          </a:prstGeom>
          <a:noFill/>
          <a:ln/>
        </p:spPr>
        <p:txBody>
          <a:bodyPr wrap="square" rtlCol="0" anchor="ctr">
            <a:normAutofit/>
          </a:bodyPr>
          <a:lstStyle/>
          <a:p>
            <a:pPr algn="ctr" indent="0" marL="0">
              <a:buNone/>
            </a:pPr>
            <a:r>
              <a:rPr lang="en-US" sz="1200" b="1" spc="50" kern="0" dirty="0">
                <a:solidFill>
                  <a:srgbClr val="FFFFFF"/>
                </a:solidFill>
                <a:latin typeface="Calibri" pitchFamily="34" charset="0"/>
                <a:ea typeface="Calibri" pitchFamily="34" charset="-122"/>
                <a:cs typeface="Calibri" pitchFamily="34" charset="-120"/>
              </a:rPr>
              <a:t>恒沐® 艾米替诺福韦 (TMF)</a:t>
            </a:r>
            <a:endParaRPr lang="en-US" sz="1200" dirty="0"/>
          </a:p>
        </p:txBody>
      </p:sp>
      <p:sp>
        <p:nvSpPr>
          <p:cNvPr id="11" name="Text 9"/>
          <p:cNvSpPr/>
          <p:nvPr/>
        </p:nvSpPr>
        <p:spPr>
          <a:xfrm>
            <a:off x="457200" y="1097280"/>
            <a:ext cx="8229600" cy="685800"/>
          </a:xfrm>
          <a:prstGeom prst="rect">
            <a:avLst/>
          </a:prstGeom>
          <a:noFill/>
          <a:ln/>
        </p:spPr>
        <p:txBody>
          <a:bodyPr wrap="square" rtlCol="0" anchor="ctr">
            <a:normAutofit/>
          </a:bodyPr>
          <a:lstStyle/>
          <a:p>
            <a:pPr algn="ctr" indent="0" marL="0">
              <a:buNone/>
            </a:pPr>
            <a:r>
              <a:rPr lang="en-US" sz="3800" b="1" spc="250" kern="0" dirty="0">
                <a:solidFill>
                  <a:srgbClr val="0A4A45"/>
                </a:solidFill>
                <a:latin typeface="Georgia" pitchFamily="34" charset="0"/>
                <a:ea typeface="Georgia" pitchFamily="34" charset="-122"/>
                <a:cs typeface="Georgia" pitchFamily="34" charset="-120"/>
              </a:rPr>
              <a:t>乙肝筛诊治康</a:t>
            </a:r>
            <a:endParaRPr lang="en-US" sz="3800" dirty="0"/>
          </a:p>
        </p:txBody>
      </p:sp>
      <p:sp>
        <p:nvSpPr>
          <p:cNvPr id="12" name="Text 10"/>
          <p:cNvSpPr/>
          <p:nvPr/>
        </p:nvSpPr>
        <p:spPr>
          <a:xfrm>
            <a:off x="457200" y="1828800"/>
            <a:ext cx="8229600" cy="457200"/>
          </a:xfrm>
          <a:prstGeom prst="rect">
            <a:avLst/>
          </a:prstGeom>
          <a:noFill/>
          <a:ln/>
        </p:spPr>
        <p:txBody>
          <a:bodyPr wrap="square" rtlCol="0" anchor="ctr">
            <a:normAutofit/>
          </a:bodyPr>
          <a:lstStyle/>
          <a:p>
            <a:pPr algn="ctr" indent="0" marL="0">
              <a:buNone/>
            </a:pPr>
            <a:r>
              <a:rPr lang="en-US" sz="1800" b="1" spc="150" kern="0" dirty="0">
                <a:solidFill>
                  <a:srgbClr val="E8742C"/>
                </a:solidFill>
                <a:latin typeface="Georgia" pitchFamily="34" charset="0"/>
                <a:ea typeface="Georgia" pitchFamily="34" charset="-122"/>
                <a:cs typeface="Georgia" pitchFamily="34" charset="-120"/>
              </a:rPr>
              <a:t>文献洞察与产品策略行动卡</a:t>
            </a:r>
            <a:endParaRPr lang="en-US" sz="1800" dirty="0"/>
          </a:p>
        </p:txBody>
      </p:sp>
      <p:sp>
        <p:nvSpPr>
          <p:cNvPr id="13" name="Shape 11"/>
          <p:cNvSpPr/>
          <p:nvPr/>
        </p:nvSpPr>
        <p:spPr>
          <a:xfrm>
            <a:off x="3200400" y="2423160"/>
            <a:ext cx="2743200" cy="27432"/>
          </a:xfrm>
          <a:prstGeom prst="rect">
            <a:avLst/>
          </a:prstGeom>
          <a:solidFill>
            <a:srgbClr val="1A9B8E"/>
          </a:solidFill>
          <a:ln/>
        </p:spPr>
      </p:sp>
      <p:sp>
        <p:nvSpPr>
          <p:cNvPr id="14" name="Shape 12"/>
          <p:cNvSpPr/>
          <p:nvPr/>
        </p:nvSpPr>
        <p:spPr>
          <a:xfrm>
            <a:off x="3657600" y="2423160"/>
            <a:ext cx="1828800" cy="27432"/>
          </a:xfrm>
          <a:prstGeom prst="rect">
            <a:avLst/>
          </a:prstGeom>
          <a:solidFill>
            <a:srgbClr val="E8742C"/>
          </a:solidFill>
          <a:ln/>
        </p:spPr>
      </p:sp>
      <p:sp>
        <p:nvSpPr>
          <p:cNvPr id="15" name="Text 13"/>
          <p:cNvSpPr/>
          <p:nvPr/>
        </p:nvSpPr>
        <p:spPr>
          <a:xfrm>
            <a:off x="457200" y="2606040"/>
            <a:ext cx="8229600" cy="320040"/>
          </a:xfrm>
          <a:prstGeom prst="rect">
            <a:avLst/>
          </a:prstGeom>
          <a:noFill/>
          <a:ln/>
        </p:spPr>
        <p:txBody>
          <a:bodyPr wrap="square" rtlCol="0" anchor="ctr">
            <a:normAutofit/>
          </a:bodyPr>
          <a:lstStyle/>
          <a:p>
            <a:pPr algn="ctr" indent="0" marL="0">
              <a:buNone/>
            </a:pPr>
            <a:r>
              <a:rPr lang="en-US" sz="1100" dirty="0">
                <a:solidFill>
                  <a:srgbClr val="64748B"/>
                </a:solidFill>
                <a:latin typeface="Calibri" pitchFamily="34" charset="0"/>
                <a:ea typeface="Calibri" pitchFamily="34" charset="-122"/>
                <a:cs typeface="Calibri" pitchFamily="34" charset="-120"/>
              </a:rPr>
              <a:t>基于49篇国际文献与2条行业洞察 · 翰森制药中央市场部</a:t>
            </a:r>
            <a:endParaRPr lang="en-US" sz="1100" dirty="0"/>
          </a:p>
        </p:txBody>
      </p:sp>
      <p:sp>
        <p:nvSpPr>
          <p:cNvPr id="16" name="Shape 14"/>
          <p:cNvSpPr/>
          <p:nvPr/>
        </p:nvSpPr>
        <p:spPr>
          <a:xfrm>
            <a:off x="708660" y="3108960"/>
            <a:ext cx="1828800" cy="731520"/>
          </a:xfrm>
          <a:prstGeom prst="roundRect">
            <a:avLst>
              <a:gd name="adj" fmla="val 7500"/>
            </a:avLst>
          </a:prstGeom>
          <a:solidFill>
            <a:srgbClr val="FFFFFF"/>
          </a:solidFill>
          <a:ln w="19050">
            <a:solidFill>
              <a:srgbClr val="0D7A6F"/>
            </a:solidFill>
            <a:prstDash val="solid"/>
          </a:ln>
          <a:effectLst>
            <a:outerShdw sx="100000" sy="100000" kx="0" ky="0" algn="bl" rotWithShape="0" blurRad="50800" dist="0" dir="16200000">
              <a:srgbClr val="0D7A6F10">
                <a:alpha val="75000"/>
              </a:srgbClr>
            </a:outerShdw>
          </a:effectLst>
        </p:spPr>
      </p:sp>
      <p:sp>
        <p:nvSpPr>
          <p:cNvPr id="17" name="Shape 15"/>
          <p:cNvSpPr/>
          <p:nvPr/>
        </p:nvSpPr>
        <p:spPr>
          <a:xfrm>
            <a:off x="708660" y="3108960"/>
            <a:ext cx="1828800" cy="54864"/>
          </a:xfrm>
          <a:prstGeom prst="rect">
            <a:avLst/>
          </a:prstGeom>
          <a:solidFill>
            <a:srgbClr val="0D7A6F"/>
          </a:solidFill>
          <a:ln/>
        </p:spPr>
      </p:sp>
      <p:sp>
        <p:nvSpPr>
          <p:cNvPr id="18" name="Text 16"/>
          <p:cNvSpPr/>
          <p:nvPr/>
        </p:nvSpPr>
        <p:spPr>
          <a:xfrm>
            <a:off x="708660" y="3200400"/>
            <a:ext cx="1828800" cy="347472"/>
          </a:xfrm>
          <a:prstGeom prst="rect">
            <a:avLst/>
          </a:prstGeom>
          <a:noFill/>
          <a:ln/>
        </p:spPr>
        <p:txBody>
          <a:bodyPr wrap="square" rtlCol="0" anchor="ctr">
            <a:normAutofit/>
          </a:bodyPr>
          <a:lstStyle/>
          <a:p>
            <a:pPr algn="ctr" indent="0" marL="0">
              <a:buNone/>
            </a:pPr>
            <a:r>
              <a:rPr lang="en-US" sz="1800" b="1" dirty="0">
                <a:solidFill>
                  <a:srgbClr val="0D7A6F"/>
                </a:solidFill>
                <a:latin typeface="Georgia" pitchFamily="34" charset="0"/>
                <a:ea typeface="Georgia" pitchFamily="34" charset="-122"/>
                <a:cs typeface="Georgia" pitchFamily="34" charset="-120"/>
              </a:rPr>
              <a:t>95%</a:t>
            </a:r>
            <a:endParaRPr lang="en-US" sz="1800" dirty="0"/>
          </a:p>
        </p:txBody>
      </p:sp>
      <p:sp>
        <p:nvSpPr>
          <p:cNvPr id="19" name="Text 17"/>
          <p:cNvSpPr/>
          <p:nvPr/>
        </p:nvSpPr>
        <p:spPr>
          <a:xfrm>
            <a:off x="708660" y="3566160"/>
            <a:ext cx="1828800" cy="228600"/>
          </a:xfrm>
          <a:prstGeom prst="rect">
            <a:avLst/>
          </a:prstGeom>
          <a:noFill/>
          <a:ln/>
        </p:spPr>
        <p:txBody>
          <a:bodyPr wrap="square" rtlCol="0" anchor="ctr">
            <a:normAutofit/>
          </a:bodyPr>
          <a:lstStyle/>
          <a:p>
            <a:pPr algn="ctr" indent="0" marL="0">
              <a:buNone/>
            </a:pPr>
            <a:r>
              <a:rPr lang="en-US" sz="800" dirty="0">
                <a:solidFill>
                  <a:srgbClr val="64748B"/>
                </a:solidFill>
                <a:latin typeface="Calibri" pitchFamily="34" charset="0"/>
                <a:ea typeface="Calibri" pitchFamily="34" charset="-122"/>
                <a:cs typeface="Calibri" pitchFamily="34" charset="-120"/>
              </a:rPr>
              <a:t>5年HBV DNA抑制率</a:t>
            </a:r>
            <a:endParaRPr lang="en-US" sz="800" dirty="0"/>
          </a:p>
        </p:txBody>
      </p:sp>
      <p:sp>
        <p:nvSpPr>
          <p:cNvPr id="20" name="Shape 18"/>
          <p:cNvSpPr/>
          <p:nvPr/>
        </p:nvSpPr>
        <p:spPr>
          <a:xfrm>
            <a:off x="2674620" y="3108960"/>
            <a:ext cx="1828800" cy="731520"/>
          </a:xfrm>
          <a:prstGeom prst="roundRect">
            <a:avLst>
              <a:gd name="adj" fmla="val 7500"/>
            </a:avLst>
          </a:prstGeom>
          <a:solidFill>
            <a:srgbClr val="FFFFFF"/>
          </a:solidFill>
          <a:ln w="19050">
            <a:solidFill>
              <a:srgbClr val="E8742C"/>
            </a:solidFill>
            <a:prstDash val="solid"/>
          </a:ln>
          <a:effectLst>
            <a:outerShdw sx="100000" sy="100000" kx="0" ky="0" algn="bl" rotWithShape="0" blurRad="50800" dist="0" dir="16200000">
              <a:srgbClr val="0D7A6F10">
                <a:alpha val="75000"/>
              </a:srgbClr>
            </a:outerShdw>
          </a:effectLst>
        </p:spPr>
      </p:sp>
      <p:sp>
        <p:nvSpPr>
          <p:cNvPr id="21" name="Shape 19"/>
          <p:cNvSpPr/>
          <p:nvPr/>
        </p:nvSpPr>
        <p:spPr>
          <a:xfrm>
            <a:off x="2674620" y="3108960"/>
            <a:ext cx="1828800" cy="54864"/>
          </a:xfrm>
          <a:prstGeom prst="rect">
            <a:avLst/>
          </a:prstGeom>
          <a:solidFill>
            <a:srgbClr val="E8742C"/>
          </a:solidFill>
          <a:ln/>
        </p:spPr>
      </p:sp>
      <p:sp>
        <p:nvSpPr>
          <p:cNvPr id="22" name="Text 20"/>
          <p:cNvSpPr/>
          <p:nvPr/>
        </p:nvSpPr>
        <p:spPr>
          <a:xfrm>
            <a:off x="2674620" y="3200400"/>
            <a:ext cx="1828800" cy="347472"/>
          </a:xfrm>
          <a:prstGeom prst="rect">
            <a:avLst/>
          </a:prstGeom>
          <a:noFill/>
          <a:ln/>
        </p:spPr>
        <p:txBody>
          <a:bodyPr wrap="square" rtlCol="0" anchor="ctr">
            <a:normAutofit/>
          </a:bodyPr>
          <a:lstStyle/>
          <a:p>
            <a:pPr algn="ctr" indent="0" marL="0">
              <a:buNone/>
            </a:pPr>
            <a:r>
              <a:rPr lang="en-US" sz="1800" b="1" dirty="0">
                <a:solidFill>
                  <a:srgbClr val="E8742C"/>
                </a:solidFill>
                <a:latin typeface="Georgia" pitchFamily="34" charset="0"/>
                <a:ea typeface="Georgia" pitchFamily="34" charset="-122"/>
                <a:cs typeface="Georgia" pitchFamily="34" charset="-120"/>
              </a:rPr>
              <a:t>63%</a:t>
            </a:r>
            <a:endParaRPr lang="en-US" sz="1800" dirty="0"/>
          </a:p>
        </p:txBody>
      </p:sp>
      <p:sp>
        <p:nvSpPr>
          <p:cNvPr id="23" name="Text 21"/>
          <p:cNvSpPr/>
          <p:nvPr/>
        </p:nvSpPr>
        <p:spPr>
          <a:xfrm>
            <a:off x="2674620" y="3566160"/>
            <a:ext cx="1828800" cy="228600"/>
          </a:xfrm>
          <a:prstGeom prst="rect">
            <a:avLst/>
          </a:prstGeom>
          <a:noFill/>
          <a:ln/>
        </p:spPr>
        <p:txBody>
          <a:bodyPr wrap="square" rtlCol="0" anchor="ctr">
            <a:normAutofit/>
          </a:bodyPr>
          <a:lstStyle/>
          <a:p>
            <a:pPr algn="ctr" indent="0" marL="0">
              <a:buNone/>
            </a:pPr>
            <a:r>
              <a:rPr lang="en-US" sz="800" dirty="0">
                <a:solidFill>
                  <a:srgbClr val="64748B"/>
                </a:solidFill>
                <a:latin typeface="Calibri" pitchFamily="34" charset="0"/>
                <a:ea typeface="Calibri" pitchFamily="34" charset="-122"/>
                <a:cs typeface="Calibri" pitchFamily="34" charset="-120"/>
              </a:rPr>
              <a:t>功能性治愈优势人群</a:t>
            </a:r>
            <a:endParaRPr lang="en-US" sz="800" dirty="0"/>
          </a:p>
        </p:txBody>
      </p:sp>
      <p:sp>
        <p:nvSpPr>
          <p:cNvPr id="24" name="Shape 22"/>
          <p:cNvSpPr/>
          <p:nvPr/>
        </p:nvSpPr>
        <p:spPr>
          <a:xfrm>
            <a:off x="4640580" y="3108960"/>
            <a:ext cx="1828800" cy="731520"/>
          </a:xfrm>
          <a:prstGeom prst="roundRect">
            <a:avLst>
              <a:gd name="adj" fmla="val 7500"/>
            </a:avLst>
          </a:prstGeom>
          <a:solidFill>
            <a:srgbClr val="FFFFFF"/>
          </a:solidFill>
          <a:ln w="19050">
            <a:solidFill>
              <a:srgbClr val="2563EB"/>
            </a:solidFill>
            <a:prstDash val="solid"/>
          </a:ln>
          <a:effectLst>
            <a:outerShdw sx="100000" sy="100000" kx="0" ky="0" algn="bl" rotWithShape="0" blurRad="50800" dist="0" dir="16200000">
              <a:srgbClr val="0D7A6F10">
                <a:alpha val="75000"/>
              </a:srgbClr>
            </a:outerShdw>
          </a:effectLst>
        </p:spPr>
      </p:sp>
      <p:sp>
        <p:nvSpPr>
          <p:cNvPr id="25" name="Shape 23"/>
          <p:cNvSpPr/>
          <p:nvPr/>
        </p:nvSpPr>
        <p:spPr>
          <a:xfrm>
            <a:off x="4640580" y="3108960"/>
            <a:ext cx="1828800" cy="54864"/>
          </a:xfrm>
          <a:prstGeom prst="rect">
            <a:avLst/>
          </a:prstGeom>
          <a:solidFill>
            <a:srgbClr val="2563EB"/>
          </a:solidFill>
          <a:ln/>
        </p:spPr>
      </p:sp>
      <p:sp>
        <p:nvSpPr>
          <p:cNvPr id="26" name="Text 24"/>
          <p:cNvSpPr/>
          <p:nvPr/>
        </p:nvSpPr>
        <p:spPr>
          <a:xfrm>
            <a:off x="4640580" y="3200400"/>
            <a:ext cx="1828800" cy="347472"/>
          </a:xfrm>
          <a:prstGeom prst="rect">
            <a:avLst/>
          </a:prstGeom>
          <a:noFill/>
          <a:ln/>
        </p:spPr>
        <p:txBody>
          <a:bodyPr wrap="square" rtlCol="0" anchor="ctr">
            <a:normAutofit/>
          </a:bodyPr>
          <a:lstStyle/>
          <a:p>
            <a:pPr algn="ctr" indent="0" marL="0">
              <a:buNone/>
            </a:pPr>
            <a:r>
              <a:rPr lang="en-US" sz="1800" b="1" dirty="0">
                <a:solidFill>
                  <a:srgbClr val="2563EB"/>
                </a:solidFill>
                <a:latin typeface="Georgia" pitchFamily="34" charset="0"/>
                <a:ea typeface="Georgia" pitchFamily="34" charset="-122"/>
                <a:cs typeface="Georgia" pitchFamily="34" charset="-120"/>
              </a:rPr>
              <a:t>14部</a:t>
            </a:r>
            <a:endParaRPr lang="en-US" sz="1800" dirty="0"/>
          </a:p>
        </p:txBody>
      </p:sp>
      <p:sp>
        <p:nvSpPr>
          <p:cNvPr id="27" name="Text 25"/>
          <p:cNvSpPr/>
          <p:nvPr/>
        </p:nvSpPr>
        <p:spPr>
          <a:xfrm>
            <a:off x="4640580" y="3566160"/>
            <a:ext cx="1828800" cy="228600"/>
          </a:xfrm>
          <a:prstGeom prst="rect">
            <a:avLst/>
          </a:prstGeom>
          <a:noFill/>
          <a:ln/>
        </p:spPr>
        <p:txBody>
          <a:bodyPr wrap="square" rtlCol="0" anchor="ctr">
            <a:normAutofit/>
          </a:bodyPr>
          <a:lstStyle/>
          <a:p>
            <a:pPr algn="ctr" indent="0" marL="0">
              <a:buNone/>
            </a:pPr>
            <a:r>
              <a:rPr lang="en-US" sz="800" dirty="0">
                <a:solidFill>
                  <a:srgbClr val="64748B"/>
                </a:solidFill>
                <a:latin typeface="Calibri" pitchFamily="34" charset="0"/>
                <a:ea typeface="Calibri" pitchFamily="34" charset="-122"/>
                <a:cs typeface="Calibri" pitchFamily="34" charset="-120"/>
              </a:rPr>
              <a:t>指南共识推荐</a:t>
            </a:r>
            <a:endParaRPr lang="en-US" sz="800" dirty="0"/>
          </a:p>
        </p:txBody>
      </p:sp>
      <p:sp>
        <p:nvSpPr>
          <p:cNvPr id="28" name="Shape 26"/>
          <p:cNvSpPr/>
          <p:nvPr/>
        </p:nvSpPr>
        <p:spPr>
          <a:xfrm>
            <a:off x="6606540" y="3108960"/>
            <a:ext cx="1828800" cy="731520"/>
          </a:xfrm>
          <a:prstGeom prst="roundRect">
            <a:avLst>
              <a:gd name="adj" fmla="val 7500"/>
            </a:avLst>
          </a:prstGeom>
          <a:solidFill>
            <a:srgbClr val="FFFFFF"/>
          </a:solidFill>
          <a:ln w="19050">
            <a:solidFill>
              <a:srgbClr val="1A9B8E"/>
            </a:solidFill>
            <a:prstDash val="solid"/>
          </a:ln>
          <a:effectLst>
            <a:outerShdw sx="100000" sy="100000" kx="0" ky="0" algn="bl" rotWithShape="0" blurRad="50800" dist="0" dir="16200000">
              <a:srgbClr val="0D7A6F10">
                <a:alpha val="75000"/>
              </a:srgbClr>
            </a:outerShdw>
          </a:effectLst>
        </p:spPr>
      </p:sp>
      <p:sp>
        <p:nvSpPr>
          <p:cNvPr id="29" name="Shape 27"/>
          <p:cNvSpPr/>
          <p:nvPr/>
        </p:nvSpPr>
        <p:spPr>
          <a:xfrm>
            <a:off x="6606540" y="3108960"/>
            <a:ext cx="1828800" cy="54864"/>
          </a:xfrm>
          <a:prstGeom prst="rect">
            <a:avLst/>
          </a:prstGeom>
          <a:solidFill>
            <a:srgbClr val="1A9B8E"/>
          </a:solidFill>
          <a:ln/>
        </p:spPr>
      </p:sp>
      <p:sp>
        <p:nvSpPr>
          <p:cNvPr id="30" name="Text 28"/>
          <p:cNvSpPr/>
          <p:nvPr/>
        </p:nvSpPr>
        <p:spPr>
          <a:xfrm>
            <a:off x="6606540" y="3200400"/>
            <a:ext cx="1828800" cy="347472"/>
          </a:xfrm>
          <a:prstGeom prst="rect">
            <a:avLst/>
          </a:prstGeom>
          <a:noFill/>
          <a:ln/>
        </p:spPr>
        <p:txBody>
          <a:bodyPr wrap="square" rtlCol="0" anchor="ctr">
            <a:normAutofit/>
          </a:bodyPr>
          <a:lstStyle/>
          <a:p>
            <a:pPr algn="ctr" indent="0" marL="0">
              <a:buNone/>
            </a:pPr>
            <a:r>
              <a:rPr lang="en-US" sz="1800" b="1" dirty="0">
                <a:solidFill>
                  <a:srgbClr val="1A9B8E"/>
                </a:solidFill>
                <a:latin typeface="Georgia" pitchFamily="34" charset="0"/>
                <a:ea typeface="Georgia" pitchFamily="34" charset="-122"/>
                <a:cs typeface="Georgia" pitchFamily="34" charset="-120"/>
              </a:rPr>
              <a:t>0%</a:t>
            </a:r>
            <a:endParaRPr lang="en-US" sz="1800" dirty="0"/>
          </a:p>
        </p:txBody>
      </p:sp>
      <p:sp>
        <p:nvSpPr>
          <p:cNvPr id="31" name="Text 29"/>
          <p:cNvSpPr/>
          <p:nvPr/>
        </p:nvSpPr>
        <p:spPr>
          <a:xfrm>
            <a:off x="6606540" y="3566160"/>
            <a:ext cx="1828800" cy="228600"/>
          </a:xfrm>
          <a:prstGeom prst="rect">
            <a:avLst/>
          </a:prstGeom>
          <a:noFill/>
          <a:ln/>
        </p:spPr>
        <p:txBody>
          <a:bodyPr wrap="square" rtlCol="0" anchor="ctr">
            <a:normAutofit/>
          </a:bodyPr>
          <a:lstStyle/>
          <a:p>
            <a:pPr algn="ctr" indent="0" marL="0">
              <a:buNone/>
            </a:pPr>
            <a:r>
              <a:rPr lang="en-US" sz="800" dirty="0">
                <a:solidFill>
                  <a:srgbClr val="64748B"/>
                </a:solidFill>
                <a:latin typeface="Calibri" pitchFamily="34" charset="0"/>
                <a:ea typeface="Calibri" pitchFamily="34" charset="-122"/>
                <a:cs typeface="Calibri" pitchFamily="34" charset="-120"/>
              </a:rPr>
              <a:t>5年病毒学耐药</a:t>
            </a:r>
            <a:endParaRPr lang="en-US" sz="800" dirty="0"/>
          </a:p>
        </p:txBody>
      </p:sp>
      <p:sp>
        <p:nvSpPr>
          <p:cNvPr id="32" name="Text 30"/>
          <p:cNvSpPr/>
          <p:nvPr/>
        </p:nvSpPr>
        <p:spPr>
          <a:xfrm>
            <a:off x="457200" y="4069080"/>
            <a:ext cx="8229600" cy="274320"/>
          </a:xfrm>
          <a:prstGeom prst="rect">
            <a:avLst/>
          </a:prstGeom>
          <a:noFill/>
          <a:ln/>
        </p:spPr>
        <p:txBody>
          <a:bodyPr wrap="square" rtlCol="0" anchor="ctr">
            <a:normAutofit/>
          </a:bodyPr>
          <a:lstStyle/>
          <a:p>
            <a:pPr algn="ctr" indent="0" marL="0">
              <a:buNone/>
            </a:pPr>
            <a:r>
              <a:rPr lang="en-US" sz="900" dirty="0">
                <a:solidFill>
                  <a:srgbClr val="64748B"/>
                </a:solidFill>
                <a:latin typeface="Calibri" pitchFamily="34" charset="0"/>
                <a:ea typeface="Calibri" pitchFamily="34" charset="-122"/>
                <a:cs typeface="Calibri" pitchFamily="34" charset="-120"/>
              </a:rPr>
              <a:t>2026-08-27</a:t>
            </a:r>
            <a:endParaRPr lang="en-US" sz="900" dirty="0"/>
          </a:p>
        </p:txBody>
      </p:sp>
      <p:sp>
        <p:nvSpPr>
          <p:cNvPr id="33" name="Shape 31"/>
          <p:cNvSpPr/>
          <p:nvPr/>
        </p:nvSpPr>
        <p:spPr>
          <a:xfrm>
            <a:off x="0" y="4988052"/>
            <a:ext cx="9144000" cy="45720"/>
          </a:xfrm>
          <a:prstGeom prst="rect">
            <a:avLst/>
          </a:prstGeom>
          <a:solidFill>
            <a:srgbClr val="E8742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355080" y="1417320"/>
          <a:ext cx="2194560" cy="310896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Text 3"/>
          <p:cNvSpPr/>
          <p:nvPr/>
        </p:nvSpPr>
        <p:spPr>
          <a:xfrm>
            <a:off x="457200" y="320040"/>
            <a:ext cx="5943600" cy="457200"/>
          </a:xfrm>
          <a:prstGeom prst="rect">
            <a:avLst/>
          </a:prstGeom>
          <a:noFill/>
          <a:ln/>
        </p:spPr>
        <p:txBody>
          <a:bodyPr wrap="square" rtlCol="0" anchor="ctr">
            <a:normAutofit/>
          </a:bodyPr>
          <a:lstStyle/>
          <a:p>
            <a:pPr algn="l" indent="0" marL="0">
              <a:buNone/>
            </a:pPr>
            <a:r>
              <a:rPr lang="en-US" sz="2200" b="1" spc="100" kern="0" dirty="0">
                <a:solidFill>
                  <a:srgbClr val="1E293B"/>
                </a:solidFill>
                <a:latin typeface="Georgia" pitchFamily="34" charset="0"/>
                <a:ea typeface="Georgia" pitchFamily="34" charset="-122"/>
                <a:cs typeface="Georgia" pitchFamily="34" charset="-120"/>
              </a:rPr>
              <a:t>恒沐® 在筛诊治康四维度的定位</a:t>
            </a:r>
            <a:endParaRPr lang="en-US" sz="2200" dirty="0"/>
          </a:p>
        </p:txBody>
      </p:sp>
      <p:sp>
        <p:nvSpPr>
          <p:cNvPr id="7" name="Shape 4"/>
          <p:cNvSpPr/>
          <p:nvPr/>
        </p:nvSpPr>
        <p:spPr>
          <a:xfrm>
            <a:off x="457200" y="822960"/>
            <a:ext cx="1097280" cy="27432"/>
          </a:xfrm>
          <a:prstGeom prst="rect">
            <a:avLst/>
          </a:prstGeom>
          <a:solidFill>
            <a:srgbClr val="E8742C"/>
          </a:solidFill>
          <a:ln/>
        </p:spPr>
      </p:sp>
      <p:sp>
        <p:nvSpPr>
          <p:cNvPr id="8" name="Shape 5"/>
          <p:cNvSpPr/>
          <p:nvPr/>
        </p:nvSpPr>
        <p:spPr>
          <a:xfrm>
            <a:off x="1554480" y="822960"/>
            <a:ext cx="548640" cy="27432"/>
          </a:xfrm>
          <a:prstGeom prst="rect">
            <a:avLst/>
          </a:prstGeom>
          <a:solidFill>
            <a:srgbClr val="2563EB"/>
          </a:solidFill>
          <a:ln/>
        </p:spPr>
      </p:sp>
      <p:sp>
        <p:nvSpPr>
          <p:cNvPr id="9" name="Shape 6"/>
          <p:cNvSpPr/>
          <p:nvPr/>
        </p:nvSpPr>
        <p:spPr>
          <a:xfrm>
            <a:off x="457200" y="1005840"/>
            <a:ext cx="384048" cy="384048"/>
          </a:xfrm>
          <a:prstGeom prst="ellipse">
            <a:avLst/>
          </a:prstGeom>
          <a:solidFill>
            <a:srgbClr val="0D7A6F"/>
          </a:solidFill>
          <a:ln/>
        </p:spPr>
      </p:sp>
      <p:sp>
        <p:nvSpPr>
          <p:cNvPr id="10" name="Text 7"/>
          <p:cNvSpPr/>
          <p:nvPr/>
        </p:nvSpPr>
        <p:spPr>
          <a:xfrm>
            <a:off x="457200" y="1005840"/>
            <a:ext cx="384048" cy="384048"/>
          </a:xfrm>
          <a:prstGeom prst="rect">
            <a:avLst/>
          </a:prstGeom>
          <a:noFill/>
          <a:ln/>
        </p:spPr>
        <p:txBody>
          <a:bodyPr wrap="square"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筛</a:t>
            </a:r>
            <a:endParaRPr lang="en-US" sz="1500" dirty="0"/>
          </a:p>
        </p:txBody>
      </p:sp>
      <p:sp>
        <p:nvSpPr>
          <p:cNvPr id="11" name="Shape 8"/>
          <p:cNvSpPr/>
          <p:nvPr/>
        </p:nvSpPr>
        <p:spPr>
          <a:xfrm>
            <a:off x="960120" y="1005840"/>
            <a:ext cx="4937760" cy="749808"/>
          </a:xfrm>
          <a:prstGeom prst="roundRect">
            <a:avLst>
              <a:gd name="adj" fmla="val 4878"/>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12" name="Shape 9"/>
          <p:cNvSpPr/>
          <p:nvPr/>
        </p:nvSpPr>
        <p:spPr>
          <a:xfrm>
            <a:off x="960120" y="1005840"/>
            <a:ext cx="54864" cy="749808"/>
          </a:xfrm>
          <a:prstGeom prst="rect">
            <a:avLst/>
          </a:prstGeom>
          <a:solidFill>
            <a:srgbClr val="0D7A6F"/>
          </a:solidFill>
          <a:ln/>
        </p:spPr>
      </p:sp>
      <p:sp>
        <p:nvSpPr>
          <p:cNvPr id="13" name="Text 10"/>
          <p:cNvSpPr/>
          <p:nvPr/>
        </p:nvSpPr>
        <p:spPr>
          <a:xfrm>
            <a:off x="1143000" y="1051560"/>
            <a:ext cx="4389120" cy="256032"/>
          </a:xfrm>
          <a:prstGeom prst="rect">
            <a:avLst/>
          </a:prstGeom>
          <a:noFill/>
          <a:ln/>
        </p:spPr>
        <p:txBody>
          <a:bodyPr wrap="square" rtlCol="0" anchor="ctr">
            <a:normAutofit/>
          </a:bodyPr>
          <a:lstStyle/>
          <a:p>
            <a:pPr algn="l" indent="0" marL="0">
              <a:buNone/>
            </a:pPr>
            <a:r>
              <a:rPr lang="en-US" sz="1200" b="1" dirty="0">
                <a:solidFill>
                  <a:srgbClr val="1E293B"/>
                </a:solidFill>
                <a:latin typeface="Georgia" pitchFamily="34" charset="0"/>
                <a:ea typeface="Georgia" pitchFamily="34" charset="-122"/>
                <a:cs typeface="Georgia" pitchFamily="34" charset="-120"/>
              </a:rPr>
              <a:t>优势人群筛选</a:t>
            </a:r>
            <a:endParaRPr lang="en-US" sz="1200" dirty="0"/>
          </a:p>
        </p:txBody>
      </p:sp>
      <p:sp>
        <p:nvSpPr>
          <p:cNvPr id="14" name="Text 11"/>
          <p:cNvSpPr/>
          <p:nvPr/>
        </p:nvSpPr>
        <p:spPr>
          <a:xfrm>
            <a:off x="1143000" y="1298448"/>
            <a:ext cx="4389120" cy="411480"/>
          </a:xfrm>
          <a:prstGeom prst="rect">
            <a:avLst/>
          </a:prstGeom>
          <a:noFill/>
          <a:ln/>
        </p:spPr>
        <p:txBody>
          <a:bodyPr wrap="square" rtlCol="0" anchor="t"/>
          <a:lstStyle/>
          <a:p>
            <a:pPr algn="l" indent="0" marL="0">
              <a:lnSpc>
                <a:spcPct val="125000"/>
              </a:lnSpc>
              <a:buNone/>
            </a:pPr>
            <a:r>
              <a:rPr lang="en-US" sz="900" dirty="0">
                <a:solidFill>
                  <a:srgbClr val="64748B"/>
                </a:solidFill>
                <a:latin typeface="Calibri" pitchFamily="34" charset="0"/>
                <a:ea typeface="Calibri" pitchFamily="34" charset="-122"/>
                <a:cs typeface="Calibri" pitchFamily="34" charset="-120"/>
              </a:rPr>
              <a:t>恒沐治疗后63%患者成为功能性治愈优势人群。基线qHBsAg&lt;100 IU/mL的恒沐患者是联合PEG-IFN的优选群体。</a:t>
            </a:r>
            <a:endParaRPr lang="en-US" sz="900" dirty="0"/>
          </a:p>
        </p:txBody>
      </p:sp>
      <p:sp>
        <p:nvSpPr>
          <p:cNvPr id="15" name="Shape 12"/>
          <p:cNvSpPr/>
          <p:nvPr/>
        </p:nvSpPr>
        <p:spPr>
          <a:xfrm>
            <a:off x="457200" y="1828800"/>
            <a:ext cx="384048" cy="384048"/>
          </a:xfrm>
          <a:prstGeom prst="ellipse">
            <a:avLst/>
          </a:prstGeom>
          <a:solidFill>
            <a:srgbClr val="2563EB"/>
          </a:solidFill>
          <a:ln/>
        </p:spPr>
      </p:sp>
      <p:sp>
        <p:nvSpPr>
          <p:cNvPr id="16" name="Text 13"/>
          <p:cNvSpPr/>
          <p:nvPr/>
        </p:nvSpPr>
        <p:spPr>
          <a:xfrm>
            <a:off x="457200" y="1828800"/>
            <a:ext cx="384048" cy="384048"/>
          </a:xfrm>
          <a:prstGeom prst="rect">
            <a:avLst/>
          </a:prstGeom>
          <a:noFill/>
          <a:ln/>
        </p:spPr>
        <p:txBody>
          <a:bodyPr wrap="square"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诊</a:t>
            </a:r>
            <a:endParaRPr lang="en-US" sz="1500" dirty="0"/>
          </a:p>
        </p:txBody>
      </p:sp>
      <p:sp>
        <p:nvSpPr>
          <p:cNvPr id="17" name="Shape 14"/>
          <p:cNvSpPr/>
          <p:nvPr/>
        </p:nvSpPr>
        <p:spPr>
          <a:xfrm>
            <a:off x="960120" y="1828800"/>
            <a:ext cx="4937760" cy="749808"/>
          </a:xfrm>
          <a:prstGeom prst="roundRect">
            <a:avLst>
              <a:gd name="adj" fmla="val 4878"/>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18" name="Shape 15"/>
          <p:cNvSpPr/>
          <p:nvPr/>
        </p:nvSpPr>
        <p:spPr>
          <a:xfrm>
            <a:off x="960120" y="1828800"/>
            <a:ext cx="54864" cy="749808"/>
          </a:xfrm>
          <a:prstGeom prst="rect">
            <a:avLst/>
          </a:prstGeom>
          <a:solidFill>
            <a:srgbClr val="2563EB"/>
          </a:solidFill>
          <a:ln/>
        </p:spPr>
      </p:sp>
      <p:sp>
        <p:nvSpPr>
          <p:cNvPr id="19" name="Text 16"/>
          <p:cNvSpPr/>
          <p:nvPr/>
        </p:nvSpPr>
        <p:spPr>
          <a:xfrm>
            <a:off x="1143000" y="1874520"/>
            <a:ext cx="4389120" cy="256032"/>
          </a:xfrm>
          <a:prstGeom prst="rect">
            <a:avLst/>
          </a:prstGeom>
          <a:noFill/>
          <a:ln/>
        </p:spPr>
        <p:txBody>
          <a:bodyPr wrap="square" rtlCol="0" anchor="ctr">
            <a:normAutofit/>
          </a:bodyPr>
          <a:lstStyle/>
          <a:p>
            <a:pPr algn="l" indent="0" marL="0">
              <a:buNone/>
            </a:pPr>
            <a:r>
              <a:rPr lang="en-US" sz="1200" b="1" dirty="0">
                <a:solidFill>
                  <a:srgbClr val="1E293B"/>
                </a:solidFill>
                <a:latin typeface="Georgia" pitchFamily="34" charset="0"/>
                <a:ea typeface="Georgia" pitchFamily="34" charset="-122"/>
                <a:cs typeface="Georgia" pitchFamily="34" charset="-120"/>
              </a:rPr>
              <a:t>疗效监测与预测</a:t>
            </a:r>
            <a:endParaRPr lang="en-US" sz="1200" dirty="0"/>
          </a:p>
        </p:txBody>
      </p:sp>
      <p:sp>
        <p:nvSpPr>
          <p:cNvPr id="20" name="Text 17"/>
          <p:cNvSpPr/>
          <p:nvPr/>
        </p:nvSpPr>
        <p:spPr>
          <a:xfrm>
            <a:off x="1143000" y="2121408"/>
            <a:ext cx="4389120" cy="411480"/>
          </a:xfrm>
          <a:prstGeom prst="rect">
            <a:avLst/>
          </a:prstGeom>
          <a:noFill/>
          <a:ln/>
        </p:spPr>
        <p:txBody>
          <a:bodyPr wrap="square" rtlCol="0" anchor="t"/>
          <a:lstStyle/>
          <a:p>
            <a:pPr algn="l" indent="0" marL="0">
              <a:lnSpc>
                <a:spcPct val="125000"/>
              </a:lnSpc>
              <a:buNone/>
            </a:pPr>
            <a:r>
              <a:rPr lang="en-US" sz="900" dirty="0">
                <a:solidFill>
                  <a:srgbClr val="64748B"/>
                </a:solidFill>
                <a:latin typeface="Calibri" pitchFamily="34" charset="0"/>
                <a:ea typeface="Calibri" pitchFamily="34" charset="-122"/>
                <a:cs typeface="Calibri" pitchFamily="34" charset="-120"/>
              </a:rPr>
              <a:t>恒沐5年数据：HBV DNA抑制率95%、HBeAg转阴率68%。qHBsAg动态监测+中国预测模型可工具化。</a:t>
            </a:r>
            <a:endParaRPr lang="en-US" sz="900" dirty="0"/>
          </a:p>
        </p:txBody>
      </p:sp>
      <p:sp>
        <p:nvSpPr>
          <p:cNvPr id="21" name="Shape 18"/>
          <p:cNvSpPr/>
          <p:nvPr/>
        </p:nvSpPr>
        <p:spPr>
          <a:xfrm>
            <a:off x="457200" y="2651760"/>
            <a:ext cx="384048" cy="384048"/>
          </a:xfrm>
          <a:prstGeom prst="ellipse">
            <a:avLst/>
          </a:prstGeom>
          <a:solidFill>
            <a:srgbClr val="0D7A6F"/>
          </a:solidFill>
          <a:ln/>
        </p:spPr>
      </p:sp>
      <p:sp>
        <p:nvSpPr>
          <p:cNvPr id="22" name="Text 19"/>
          <p:cNvSpPr/>
          <p:nvPr/>
        </p:nvSpPr>
        <p:spPr>
          <a:xfrm>
            <a:off x="457200" y="2651760"/>
            <a:ext cx="384048" cy="384048"/>
          </a:xfrm>
          <a:prstGeom prst="rect">
            <a:avLst/>
          </a:prstGeom>
          <a:noFill/>
          <a:ln/>
        </p:spPr>
        <p:txBody>
          <a:bodyPr wrap="square"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治</a:t>
            </a:r>
            <a:endParaRPr lang="en-US" sz="1500" dirty="0"/>
          </a:p>
        </p:txBody>
      </p:sp>
      <p:sp>
        <p:nvSpPr>
          <p:cNvPr id="23" name="Shape 20"/>
          <p:cNvSpPr/>
          <p:nvPr/>
        </p:nvSpPr>
        <p:spPr>
          <a:xfrm>
            <a:off x="960120" y="2651760"/>
            <a:ext cx="4937760" cy="749808"/>
          </a:xfrm>
          <a:prstGeom prst="roundRect">
            <a:avLst>
              <a:gd name="adj" fmla="val 4878"/>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24" name="Shape 21"/>
          <p:cNvSpPr/>
          <p:nvPr/>
        </p:nvSpPr>
        <p:spPr>
          <a:xfrm>
            <a:off x="960120" y="2651760"/>
            <a:ext cx="54864" cy="749808"/>
          </a:xfrm>
          <a:prstGeom prst="rect">
            <a:avLst/>
          </a:prstGeom>
          <a:solidFill>
            <a:srgbClr val="0D7A6F"/>
          </a:solidFill>
          <a:ln/>
        </p:spPr>
      </p:sp>
      <p:sp>
        <p:nvSpPr>
          <p:cNvPr id="25" name="Text 22"/>
          <p:cNvSpPr/>
          <p:nvPr/>
        </p:nvSpPr>
        <p:spPr>
          <a:xfrm>
            <a:off x="1143000" y="2697480"/>
            <a:ext cx="4389120" cy="256032"/>
          </a:xfrm>
          <a:prstGeom prst="rect">
            <a:avLst/>
          </a:prstGeom>
          <a:noFill/>
          <a:ln/>
        </p:spPr>
        <p:txBody>
          <a:bodyPr wrap="square" rtlCol="0" anchor="ctr">
            <a:normAutofit/>
          </a:bodyPr>
          <a:lstStyle/>
          <a:p>
            <a:pPr algn="l" indent="0" marL="0">
              <a:buNone/>
            </a:pPr>
            <a:r>
              <a:rPr lang="en-US" sz="1200" b="1" dirty="0">
                <a:solidFill>
                  <a:srgbClr val="1E293B"/>
                </a:solidFill>
                <a:latin typeface="Georgia" pitchFamily="34" charset="0"/>
                <a:ea typeface="Georgia" pitchFamily="34" charset="-122"/>
                <a:cs typeface="Georgia" pitchFamily="34" charset="-120"/>
              </a:rPr>
              <a:t>NA基石与联合方案</a:t>
            </a:r>
            <a:endParaRPr lang="en-US" sz="1200" dirty="0"/>
          </a:p>
        </p:txBody>
      </p:sp>
      <p:sp>
        <p:nvSpPr>
          <p:cNvPr id="26" name="Text 23"/>
          <p:cNvSpPr/>
          <p:nvPr/>
        </p:nvSpPr>
        <p:spPr>
          <a:xfrm>
            <a:off x="1143000" y="2944368"/>
            <a:ext cx="4389120" cy="411480"/>
          </a:xfrm>
          <a:prstGeom prst="rect">
            <a:avLst/>
          </a:prstGeom>
          <a:noFill/>
          <a:ln/>
        </p:spPr>
        <p:txBody>
          <a:bodyPr wrap="square" rtlCol="0" anchor="t"/>
          <a:lstStyle/>
          <a:p>
            <a:pPr algn="l" indent="0" marL="0">
              <a:lnSpc>
                <a:spcPct val="125000"/>
              </a:lnSpc>
              <a:buNone/>
            </a:pPr>
            <a:r>
              <a:rPr lang="en-US" sz="900" dirty="0">
                <a:solidFill>
                  <a:srgbClr val="64748B"/>
                </a:solidFill>
                <a:latin typeface="Calibri" pitchFamily="34" charset="0"/>
                <a:ea typeface="Calibri" pitchFamily="34" charset="-122"/>
                <a:cs typeface="Calibri" pitchFamily="34" charset="-120"/>
              </a:rPr>
              <a:t>"TMF抑制+PEG-IFN清除"序贯方案是功能性治愈核心路径。肝硬化人群ALT复常率86.8%优于TAF。</a:t>
            </a:r>
            <a:endParaRPr lang="en-US" sz="900" dirty="0"/>
          </a:p>
        </p:txBody>
      </p:sp>
      <p:sp>
        <p:nvSpPr>
          <p:cNvPr id="27" name="Shape 24"/>
          <p:cNvSpPr/>
          <p:nvPr/>
        </p:nvSpPr>
        <p:spPr>
          <a:xfrm>
            <a:off x="457200" y="3474720"/>
            <a:ext cx="384048" cy="384048"/>
          </a:xfrm>
          <a:prstGeom prst="ellipse">
            <a:avLst/>
          </a:prstGeom>
          <a:solidFill>
            <a:srgbClr val="E8742C"/>
          </a:solidFill>
          <a:ln/>
        </p:spPr>
      </p:sp>
      <p:sp>
        <p:nvSpPr>
          <p:cNvPr id="28" name="Text 25"/>
          <p:cNvSpPr/>
          <p:nvPr/>
        </p:nvSpPr>
        <p:spPr>
          <a:xfrm>
            <a:off x="457200" y="3474720"/>
            <a:ext cx="384048" cy="384048"/>
          </a:xfrm>
          <a:prstGeom prst="rect">
            <a:avLst/>
          </a:prstGeom>
          <a:noFill/>
          <a:ln/>
        </p:spPr>
        <p:txBody>
          <a:bodyPr wrap="square"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康</a:t>
            </a:r>
            <a:endParaRPr lang="en-US" sz="1500" dirty="0"/>
          </a:p>
        </p:txBody>
      </p:sp>
      <p:sp>
        <p:nvSpPr>
          <p:cNvPr id="29" name="Shape 26"/>
          <p:cNvSpPr/>
          <p:nvPr/>
        </p:nvSpPr>
        <p:spPr>
          <a:xfrm>
            <a:off x="960120" y="3474720"/>
            <a:ext cx="4937760" cy="749808"/>
          </a:xfrm>
          <a:prstGeom prst="roundRect">
            <a:avLst>
              <a:gd name="adj" fmla="val 4878"/>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30" name="Shape 27"/>
          <p:cNvSpPr/>
          <p:nvPr/>
        </p:nvSpPr>
        <p:spPr>
          <a:xfrm>
            <a:off x="960120" y="3474720"/>
            <a:ext cx="54864" cy="749808"/>
          </a:xfrm>
          <a:prstGeom prst="rect">
            <a:avLst/>
          </a:prstGeom>
          <a:solidFill>
            <a:srgbClr val="E8742C"/>
          </a:solidFill>
          <a:ln/>
        </p:spPr>
      </p:sp>
      <p:sp>
        <p:nvSpPr>
          <p:cNvPr id="31" name="Text 28"/>
          <p:cNvSpPr/>
          <p:nvPr/>
        </p:nvSpPr>
        <p:spPr>
          <a:xfrm>
            <a:off x="1143000" y="3520440"/>
            <a:ext cx="4389120" cy="256032"/>
          </a:xfrm>
          <a:prstGeom prst="rect">
            <a:avLst/>
          </a:prstGeom>
          <a:noFill/>
          <a:ln/>
        </p:spPr>
        <p:txBody>
          <a:bodyPr wrap="square" rtlCol="0" anchor="ctr">
            <a:normAutofit/>
          </a:bodyPr>
          <a:lstStyle/>
          <a:p>
            <a:pPr algn="l" indent="0" marL="0">
              <a:buNone/>
            </a:pPr>
            <a:r>
              <a:rPr lang="en-US" sz="1200" b="1" dirty="0">
                <a:solidFill>
                  <a:srgbClr val="1E293B"/>
                </a:solidFill>
                <a:latin typeface="Georgia" pitchFamily="34" charset="0"/>
                <a:ea typeface="Georgia" pitchFamily="34" charset="-122"/>
                <a:cs typeface="Georgia" pitchFamily="34" charset="-120"/>
              </a:rPr>
              <a:t>长期安全与管理</a:t>
            </a:r>
            <a:endParaRPr lang="en-US" sz="1200" dirty="0"/>
          </a:p>
        </p:txBody>
      </p:sp>
      <p:sp>
        <p:nvSpPr>
          <p:cNvPr id="32" name="Text 29"/>
          <p:cNvSpPr/>
          <p:nvPr/>
        </p:nvSpPr>
        <p:spPr>
          <a:xfrm>
            <a:off x="1143000" y="3767328"/>
            <a:ext cx="4389120" cy="411480"/>
          </a:xfrm>
          <a:prstGeom prst="rect">
            <a:avLst/>
          </a:prstGeom>
          <a:noFill/>
          <a:ln/>
        </p:spPr>
        <p:txBody>
          <a:bodyPr wrap="square" rtlCol="0" anchor="t"/>
          <a:lstStyle/>
          <a:p>
            <a:pPr algn="l" indent="0" marL="0">
              <a:lnSpc>
                <a:spcPct val="125000"/>
              </a:lnSpc>
              <a:buNone/>
            </a:pPr>
            <a:r>
              <a:rPr lang="en-US" sz="900" dirty="0">
                <a:solidFill>
                  <a:srgbClr val="64748B"/>
                </a:solidFill>
                <a:latin typeface="Calibri" pitchFamily="34" charset="0"/>
                <a:ea typeface="Calibri" pitchFamily="34" charset="-122"/>
                <a:cs typeface="Calibri" pitchFamily="34" charset="-120"/>
              </a:rPr>
              <a:t>5年骨密度&gt;80%稳定/增加，零耐药。停药后监测+纤维化动态评估+HCC分层监测构成管理闭环。</a:t>
            </a:r>
            <a:endParaRPr lang="en-US" sz="900" dirty="0"/>
          </a:p>
        </p:txBody>
      </p:sp>
      <p:sp>
        <p:nvSpPr>
          <p:cNvPr id="33" name="Shape 30"/>
          <p:cNvSpPr/>
          <p:nvPr/>
        </p:nvSpPr>
        <p:spPr>
          <a:xfrm>
            <a:off x="6217920" y="1005840"/>
            <a:ext cx="2468880" cy="3657600"/>
          </a:xfrm>
          <a:prstGeom prst="roundRect">
            <a:avLst>
              <a:gd name="adj" fmla="val 2222"/>
            </a:avLst>
          </a:prstGeom>
          <a:solidFill>
            <a:srgbClr val="FFFFFF"/>
          </a:solidFill>
          <a:ln w="12700">
            <a:solidFill>
              <a:srgbClr val="D1E0DD"/>
            </a:solidFill>
            <a:prstDash val="solid"/>
          </a:ln>
          <a:effectLst>
            <a:outerShdw sx="100000" sy="100000" kx="0" ky="0" algn="bl" rotWithShape="0" blurRad="50800" dist="0" dir="16200000">
              <a:srgbClr val="0D7A6F10">
                <a:alpha val="75000"/>
              </a:srgbClr>
            </a:outerShdw>
          </a:effectLst>
        </p:spPr>
      </p:sp>
      <p:sp>
        <p:nvSpPr>
          <p:cNvPr id="34" name="Text 31"/>
          <p:cNvSpPr/>
          <p:nvPr/>
        </p:nvSpPr>
        <p:spPr>
          <a:xfrm>
            <a:off x="6355080" y="1097280"/>
            <a:ext cx="2194560" cy="274320"/>
          </a:xfrm>
          <a:prstGeom prst="rect">
            <a:avLst/>
          </a:prstGeom>
          <a:noFill/>
          <a:ln/>
        </p:spPr>
        <p:txBody>
          <a:bodyPr wrap="square" rtlCol="0" anchor="ctr">
            <a:normAutofit/>
          </a:bodyPr>
          <a:lstStyle/>
          <a:p>
            <a:pPr algn="ctr" indent="0" marL="0">
              <a:buNone/>
            </a:pPr>
            <a:r>
              <a:rPr lang="en-US" sz="1000" b="1" dirty="0">
                <a:solidFill>
                  <a:srgbClr val="1E293B"/>
                </a:solidFill>
                <a:latin typeface="Calibri" pitchFamily="34" charset="0"/>
                <a:ea typeface="Calibri" pitchFamily="34" charset="-122"/>
                <a:cs typeface="Calibri" pitchFamily="34" charset="-120"/>
              </a:rPr>
              <a:t>恒沐® 5年核心疗效数据</a:t>
            </a:r>
            <a:endParaRPr lang="en-US" sz="1000" dirty="0"/>
          </a:p>
        </p:txBody>
      </p:sp>
      <p:sp>
        <p:nvSpPr>
          <p:cNvPr id="35" name="Shape 32"/>
          <p:cNvSpPr/>
          <p:nvPr/>
        </p:nvSpPr>
        <p:spPr>
          <a:xfrm>
            <a:off x="0" y="4988052"/>
            <a:ext cx="9144000" cy="45720"/>
          </a:xfrm>
          <a:prstGeom prst="rect">
            <a:avLst/>
          </a:prstGeom>
          <a:solidFill>
            <a:srgbClr val="0D7A6F"/>
          </a:solidFill>
          <a:ln/>
        </p:spPr>
      </p:sp>
      <p:sp>
        <p:nvSpPr>
          <p:cNvPr id="36" name="Shape 33"/>
          <p:cNvSpPr/>
          <p:nvPr/>
        </p:nvSpPr>
        <p:spPr>
          <a:xfrm>
            <a:off x="0" y="4988052"/>
            <a:ext cx="1828800" cy="45720"/>
          </a:xfrm>
          <a:prstGeom prst="rect">
            <a:avLst/>
          </a:prstGeom>
          <a:solidFill>
            <a:srgbClr val="E8742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FFF5EB"/>
          </a:solidFill>
          <a:ln w="12700">
            <a:solidFill>
              <a:srgbClr val="E8742C"/>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E8742C"/>
                </a:solidFill>
                <a:latin typeface="Calibri" pitchFamily="34" charset="0"/>
                <a:ea typeface="Calibri" pitchFamily="34" charset="-122"/>
                <a:cs typeface="Calibri" pitchFamily="34" charset="-120"/>
              </a:rPr>
              <a:t>高优先级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筛·治  |  1/10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PegIFNα优势人群精准推广</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系统评价（115项研究）显示非活动性携带者HBsAg清除率57%、NAs经治患者21%。中国已有2个基于本土数据的预测模型（859例AUC=0.884 + GIFT项目22中心）可工具化。联合中药是独立预测因素（OR=3.83）。</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将PegIFNα推广重心从"广覆盖"转向"精准筛选优势人群"；将预测模型开发为临床决策支持工具；联合中药方案可作为中国特色推广点。</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恒沐治疗患者中63%成为功能性治愈优势人群，是联合PEG-IFN的理想NA基石。"TMF抑制+PEG-IFN清除"序贯方案是恒沐追求功能性治愈的核心路径。</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不同人群HBsAg清除率对比</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FFF5EB"/>
          </a:solidFill>
          <a:ln w="12700">
            <a:solidFill>
              <a:srgbClr val="E8742C"/>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E8742C"/>
                </a:solidFill>
                <a:latin typeface="Calibri" pitchFamily="34" charset="0"/>
                <a:ea typeface="Calibri" pitchFamily="34" charset="-122"/>
                <a:cs typeface="Calibri" pitchFamily="34" charset="-120"/>
              </a:rPr>
              <a:t>高优先级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筛·诊·治·康  |  2/10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qHBsAg检测生态建设</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西班牙全国调查显示qHBsAg检测实施率仅37.4%，基层缺口巨大。临床需求认知不足（57.1%）是主要障碍。qHBsAg是停药决策、优势人群筛选、治疗监测、HCC分层的核心标志物。</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推动qHBsAg检测标准化方案下沉基层；配套医学教育（检测适应症、报告解读、临床决策路径）；评估SHBs、HBV RNA、HBcrAg等新型标志物检测产品布局。</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恒沐治疗全程依赖qHBsAg监测：基线筛选优势人群、治疗中评估应答、决定是否联合PEG-IFN、停药安全评估。推动qHBsAg可及性直接赋能恒沐的精准临床使用。</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qHBsAg检测实施率与认知缺口</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FFF5EB"/>
          </a:solidFill>
          <a:ln w="12700">
            <a:solidFill>
              <a:srgbClr val="E8742C"/>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E8742C"/>
                </a:solidFill>
                <a:latin typeface="Calibri" pitchFamily="34" charset="0"/>
                <a:ea typeface="Calibri" pitchFamily="34" charset="-122"/>
                <a:cs typeface="Calibri" pitchFamily="34" charset="-120"/>
              </a:rPr>
              <a:t>高优先级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治  |  3/10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TAF在功能性治愈目标人群中的差异化定位</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多中心研究（ETV n=491, TAF n=463）显示TAF组HBsAg下降幅度4年内显著大于ETV组，优势在年龄&lt;65岁、无肝硬化、基线HBsAg≥3.0 log IU/mL的患者中更显著。</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针对追求功能性治愈的年轻、无肝硬化患者，强化TAF在HBsAg动力学方面的优势教育；结合PegIFNα联合治疗路径，构建序贯治疗方案推广。</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恒沐作为同类新型替诺福韦药物，可借鉴TAF优于ETV的HBsAg下降数据。关键差异化：恒沐在肝硬化人群ALT复常率86.8%显著优于TAF（76.9%），且无失代偿事件。</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肝硬化人群ALT复常率对比</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FFF5EB"/>
          </a:solidFill>
          <a:ln w="12700">
            <a:solidFill>
              <a:srgbClr val="E8742C"/>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E8742C"/>
                </a:solidFill>
                <a:latin typeface="Calibri" pitchFamily="34" charset="0"/>
                <a:ea typeface="Calibri" pitchFamily="34" charset="-122"/>
                <a:cs typeface="Calibri" pitchFamily="34" charset="-120"/>
              </a:rPr>
              <a:t>高优先级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康  |  4/10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HBsAg清除后HCC分层监测产品升级</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两篇顶级期刊评论明确HBsAg清除后HCC风险仍在，需个体化分层监测。36年队列研究（n=453）证实HBsAg清除与更好的长期肝脏预后相关。</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开发基于风险因素（年龄、肝硬化状态、HBV DNA整合、家族史）的HCC分层监测工具；将AFP+影像学推广从"统一方案"升级为"个体化方案"。</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恒沐作为长期一线NA治疗药物，患者基数大且治疗周期长。HCC分层监测工具升级直接服务于恒沐长期患者的安全管理。恒沐5年零耐药+骨肾安全数据是长期管理最佳背书。</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36年队列：HBsAg清除与肝脏预后</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EFF6FF"/>
          </a:solidFill>
          <a:ln w="12700">
            <a:solidFill>
              <a:srgbClr val="2563EB"/>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2563EB"/>
                </a:solidFill>
                <a:latin typeface="Calibri" pitchFamily="34" charset="0"/>
                <a:ea typeface="Calibri" pitchFamily="34" charset="-122"/>
                <a:cs typeface="Calibri" pitchFamily="34" charset="-120"/>
              </a:rPr>
              <a:t>中优先级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治  |  5/10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新药管线竞争监测与布局</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ASO/siRNA管线进展最快：Bepirovirsen（ASO，II期完成）、AHB-137（I期完成，HBsAg下降0.7-1.0 log10）、Xalnesiran（siRNA，II期，48%达NA停药标准）。联合治疗是共识方向。</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密切跟踪Bepirovirsen III期和中国亚组数据；评估ASO/siRNA与现有PegIFNα产品的互补/竞争关系；关注SPHERE试验结果。</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恒沐需明确在联合治疗中的定位——作为病毒抑制基石与新药联合，而非被替代。可探索"TMF+ASO/siRNA→PEG-IFN挽救"的序贯策略。恒沐的免疫调节作用是其独特优势。</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新药管线HBsAg下降幅度 (log10)</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EFF6FF"/>
          </a:solidFill>
          <a:ln w="12700">
            <a:solidFill>
              <a:srgbClr val="2563EB"/>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2563EB"/>
                </a:solidFill>
                <a:latin typeface="Calibri" pitchFamily="34" charset="0"/>
                <a:ea typeface="Calibri" pitchFamily="34" charset="-122"/>
                <a:cs typeface="Calibri" pitchFamily="34" charset="-120"/>
              </a:rPr>
              <a:t>中优先级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康  |  6/10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HCC风险分层监测产品升级</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HBsAg清除后HCC风险仍存在但需个体化分层；长期NAs抑制后是否降级监测存争议。HCC监测产品需求不因功能性治愈推进而缩减。</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开发基于风险因素的HCC监测分层工具；将AFP检测+影像学推广从"统一方案"升级为"个体化方案"；跟踪HCC风险预测模型研究进展。</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恒沐长期抑制HBV的患者同样需要HCC监测。基于风险分层的个体化监测方案可成为恒沐患者长期管理的增值服务。恒沐的PROMOTE研究支持其在延缓疾病进展中的价值。</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HCC风险因素权重分布</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EFF6FF"/>
          </a:solidFill>
          <a:ln w="12700">
            <a:solidFill>
              <a:srgbClr val="2563EB"/>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2563EB"/>
                </a:solidFill>
                <a:latin typeface="Calibri" pitchFamily="34" charset="0"/>
                <a:ea typeface="Calibri" pitchFamily="34" charset="-122"/>
                <a:cs typeface="Calibri" pitchFamily="34" charset="-120"/>
              </a:rPr>
              <a:t>中优先级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治·康  |  7/10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停药后监测产品线与纤维化动态监测</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Xalnesiran停药后48%病毒学复发但60%维持停药——有限疗程范式催生停药后高敏检测需求。Peg-IFN联合NAs治疗42.98%患者纤维化改善，晚期纤维化组改善达95.00%。</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布局停药后监测产品组合（高敏HBV DNA&lt;10 IU/mL + qHBsAg动态 + ALT）；推动APRI/FIB-4在治疗后纤维化逆转监测中的应用。</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恒沐已有真实世界数据支持抗纤维化效果。APRI/FIB-4动态监测可用于评估恒沐治疗后的纤维化逆转，为"恒沐不仅抑制病毒更改善肝脏结构"提供证据支撑。</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Peg-IFN+NAs治疗后纤维化改善率</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6035040" y="1737360"/>
          <a:ext cx="2514600" cy="23774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73152"/>
          </a:xfrm>
          <a:prstGeom prst="rect">
            <a:avLst/>
          </a:prstGeom>
          <a:solidFill>
            <a:srgbClr val="0D7A6F"/>
          </a:solidFill>
          <a:ln/>
        </p:spPr>
      </p:sp>
      <p:sp>
        <p:nvSpPr>
          <p:cNvPr id="4" name="Shape 1"/>
          <p:cNvSpPr/>
          <p:nvPr/>
        </p:nvSpPr>
        <p:spPr>
          <a:xfrm>
            <a:off x="0" y="73152"/>
            <a:ext cx="2286000" cy="36576"/>
          </a:xfrm>
          <a:prstGeom prst="rect">
            <a:avLst/>
          </a:prstGeom>
          <a:solidFill>
            <a:srgbClr val="E8742C"/>
          </a:solidFill>
          <a:ln/>
        </p:spPr>
      </p:sp>
      <p:sp>
        <p:nvSpPr>
          <p:cNvPr id="5" name="Shape 2"/>
          <p:cNvSpPr/>
          <p:nvPr/>
        </p:nvSpPr>
        <p:spPr>
          <a:xfrm>
            <a:off x="2286000" y="73152"/>
            <a:ext cx="1371600" cy="36576"/>
          </a:xfrm>
          <a:prstGeom prst="rect">
            <a:avLst/>
          </a:prstGeom>
          <a:solidFill>
            <a:srgbClr val="2563EB"/>
          </a:solidFill>
          <a:ln/>
        </p:spPr>
      </p:sp>
      <p:sp>
        <p:nvSpPr>
          <p:cNvPr id="6" name="Shape 3"/>
          <p:cNvSpPr/>
          <p:nvPr/>
        </p:nvSpPr>
        <p:spPr>
          <a:xfrm>
            <a:off x="7498080" y="256032"/>
            <a:ext cx="1188720" cy="274320"/>
          </a:xfrm>
          <a:prstGeom prst="roundRect">
            <a:avLst>
              <a:gd name="adj" fmla="val 13333"/>
            </a:avLst>
          </a:prstGeom>
          <a:solidFill>
            <a:srgbClr val="E8F4F2"/>
          </a:solidFill>
          <a:ln w="12700">
            <a:solidFill>
              <a:srgbClr val="0D7A6F"/>
            </a:solidFill>
            <a:prstDash val="solid"/>
          </a:ln>
        </p:spPr>
      </p:sp>
      <p:sp>
        <p:nvSpPr>
          <p:cNvPr id="7" name="Text 4"/>
          <p:cNvSpPr/>
          <p:nvPr/>
        </p:nvSpPr>
        <p:spPr>
          <a:xfrm>
            <a:off x="7498080" y="256032"/>
            <a:ext cx="1188720" cy="274320"/>
          </a:xfrm>
          <a:prstGeom prst="rect">
            <a:avLst/>
          </a:prstGeom>
          <a:noFill/>
          <a:ln/>
        </p:spPr>
        <p:txBody>
          <a:bodyPr wrap="square" rtlCol="0" anchor="ctr">
            <a:normAutofit/>
          </a:bodyPr>
          <a:lstStyle/>
          <a:p>
            <a:pPr algn="ctr" indent="0" marL="0">
              <a:buNone/>
            </a:pPr>
            <a:r>
              <a:rPr lang="en-US" sz="900" b="1" dirty="0">
                <a:solidFill>
                  <a:srgbClr val="0D7A6F"/>
                </a:solidFill>
                <a:latin typeface="Calibri" pitchFamily="34" charset="0"/>
                <a:ea typeface="Calibri" pitchFamily="34" charset="-122"/>
                <a:cs typeface="Calibri" pitchFamily="34" charset="-120"/>
              </a:rPr>
              <a:t>恒沐® TMF</a:t>
            </a:r>
            <a:endParaRPr lang="en-US" sz="900" dirty="0"/>
          </a:p>
        </p:txBody>
      </p:sp>
      <p:sp>
        <p:nvSpPr>
          <p:cNvPr id="8" name="Shape 5"/>
          <p:cNvSpPr/>
          <p:nvPr/>
        </p:nvSpPr>
        <p:spPr>
          <a:xfrm>
            <a:off x="457200" y="320040"/>
            <a:ext cx="1005840" cy="292608"/>
          </a:xfrm>
          <a:prstGeom prst="roundRect">
            <a:avLst>
              <a:gd name="adj" fmla="val 12500"/>
            </a:avLst>
          </a:prstGeom>
          <a:solidFill>
            <a:srgbClr val="EFF6FF"/>
          </a:solidFill>
          <a:ln w="12700">
            <a:solidFill>
              <a:srgbClr val="2563EB"/>
            </a:solidFill>
            <a:prstDash val="solid"/>
          </a:ln>
        </p:spPr>
      </p:sp>
      <p:sp>
        <p:nvSpPr>
          <p:cNvPr id="9" name="Text 6"/>
          <p:cNvSpPr/>
          <p:nvPr/>
        </p:nvSpPr>
        <p:spPr>
          <a:xfrm>
            <a:off x="457200" y="320040"/>
            <a:ext cx="1005840" cy="292608"/>
          </a:xfrm>
          <a:prstGeom prst="rect">
            <a:avLst/>
          </a:prstGeom>
          <a:noFill/>
          <a:ln/>
        </p:spPr>
        <p:txBody>
          <a:bodyPr wrap="square" rtlCol="0" anchor="ctr">
            <a:normAutofit/>
          </a:bodyPr>
          <a:lstStyle/>
          <a:p>
            <a:pPr algn="ctr" indent="0" marL="0">
              <a:buNone/>
            </a:pPr>
            <a:r>
              <a:rPr lang="en-US" sz="900" b="1" dirty="0">
                <a:solidFill>
                  <a:srgbClr val="2563EB"/>
                </a:solidFill>
                <a:latin typeface="Calibri" pitchFamily="34" charset="0"/>
                <a:ea typeface="Calibri" pitchFamily="34" charset="-122"/>
                <a:cs typeface="Calibri" pitchFamily="34" charset="-120"/>
              </a:rPr>
              <a:t>中优先级</a:t>
            </a:r>
            <a:endParaRPr lang="en-US" sz="900" dirty="0"/>
          </a:p>
        </p:txBody>
      </p:sp>
      <p:sp>
        <p:nvSpPr>
          <p:cNvPr id="10" name="Text 7"/>
          <p:cNvSpPr/>
          <p:nvPr/>
        </p:nvSpPr>
        <p:spPr>
          <a:xfrm>
            <a:off x="1554480" y="320040"/>
            <a:ext cx="2286000" cy="292608"/>
          </a:xfrm>
          <a:prstGeom prst="rect">
            <a:avLst/>
          </a:prstGeom>
          <a:noFill/>
          <a:ln/>
        </p:spPr>
        <p:txBody>
          <a:bodyPr wrap="square" rtlCol="0" anchor="ctr">
            <a:normAutofit/>
          </a:bodyPr>
          <a:lstStyle/>
          <a:p>
            <a:pPr algn="l" indent="0" marL="0">
              <a:buNone/>
            </a:pPr>
            <a:r>
              <a:rPr lang="en-US" sz="900" dirty="0">
                <a:solidFill>
                  <a:srgbClr val="64748B"/>
                </a:solidFill>
                <a:latin typeface="Calibri" pitchFamily="34" charset="0"/>
                <a:ea typeface="Calibri" pitchFamily="34" charset="-122"/>
                <a:cs typeface="Calibri" pitchFamily="34" charset="-120"/>
              </a:rPr>
              <a:t>治  |  8/10</a:t>
            </a:r>
            <a:endParaRPr lang="en-US" sz="900" dirty="0"/>
          </a:p>
        </p:txBody>
      </p:sp>
      <p:sp>
        <p:nvSpPr>
          <p:cNvPr id="11" name="Text 8"/>
          <p:cNvSpPr/>
          <p:nvPr/>
        </p:nvSpPr>
        <p:spPr>
          <a:xfrm>
            <a:off x="457200" y="685800"/>
            <a:ext cx="7772400" cy="457200"/>
          </a:xfrm>
          <a:prstGeom prst="rect">
            <a:avLst/>
          </a:prstGeom>
          <a:noFill/>
          <a:ln/>
        </p:spPr>
        <p:txBody>
          <a:bodyPr wrap="square" rtlCol="0" anchor="t">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HCC免疫联合治疗市场强化</a:t>
            </a:r>
            <a:endParaRPr lang="en-US" sz="2000" dirty="0"/>
          </a:p>
        </p:txBody>
      </p:sp>
      <p:sp>
        <p:nvSpPr>
          <p:cNvPr id="12" name="Shape 9"/>
          <p:cNvSpPr/>
          <p:nvPr/>
        </p:nvSpPr>
        <p:spPr>
          <a:xfrm>
            <a:off x="457200" y="1188720"/>
            <a:ext cx="1097280" cy="32004"/>
          </a:xfrm>
          <a:prstGeom prst="rect">
            <a:avLst/>
          </a:prstGeom>
          <a:solidFill>
            <a:srgbClr val="E8742C"/>
          </a:solidFill>
          <a:ln/>
        </p:spPr>
      </p:sp>
      <p:sp>
        <p:nvSpPr>
          <p:cNvPr id="13" name="Shape 10"/>
          <p:cNvSpPr/>
          <p:nvPr/>
        </p:nvSpPr>
        <p:spPr>
          <a:xfrm>
            <a:off x="1554480" y="1188720"/>
            <a:ext cx="548640" cy="32004"/>
          </a:xfrm>
          <a:prstGeom prst="rect">
            <a:avLst/>
          </a:prstGeom>
          <a:solidFill>
            <a:srgbClr val="2563EB"/>
          </a:solidFill>
          <a:ln/>
        </p:spPr>
      </p:sp>
      <p:sp>
        <p:nvSpPr>
          <p:cNvPr id="14" name="Shape 11"/>
          <p:cNvSpPr/>
          <p:nvPr/>
        </p:nvSpPr>
        <p:spPr>
          <a:xfrm>
            <a:off x="457200" y="1371600"/>
            <a:ext cx="731520" cy="237744"/>
          </a:xfrm>
          <a:prstGeom prst="roundRect">
            <a:avLst>
              <a:gd name="adj" fmla="val 15385"/>
            </a:avLst>
          </a:prstGeom>
          <a:solidFill>
            <a:srgbClr val="0D7A6F"/>
          </a:solidFill>
          <a:ln/>
        </p:spPr>
      </p:sp>
      <p:sp>
        <p:nvSpPr>
          <p:cNvPr id="15" name="Text 12"/>
          <p:cNvSpPr/>
          <p:nvPr/>
        </p:nvSpPr>
        <p:spPr>
          <a:xfrm>
            <a:off x="457200" y="1371600"/>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依 据</a:t>
            </a:r>
            <a:endParaRPr lang="en-US" sz="900" dirty="0"/>
          </a:p>
        </p:txBody>
      </p:sp>
      <p:sp>
        <p:nvSpPr>
          <p:cNvPr id="16" name="Text 13"/>
          <p:cNvSpPr/>
          <p:nvPr/>
        </p:nvSpPr>
        <p:spPr>
          <a:xfrm>
            <a:off x="457200" y="1664208"/>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网络荟萃分析（17项III期RCT，12,727例）支持免疫+靶向联合优于索拉非尼。HBV病因亚组中Atezolizumab-Cabozantinib排名最高。中国已批准Sintilimab-BevSim和Camrelizumab-Rivoceranib。</a:t>
            </a:r>
            <a:endParaRPr lang="en-US" sz="1000" dirty="0"/>
          </a:p>
        </p:txBody>
      </p:sp>
      <p:sp>
        <p:nvSpPr>
          <p:cNvPr id="17" name="Shape 14"/>
          <p:cNvSpPr/>
          <p:nvPr/>
        </p:nvSpPr>
        <p:spPr>
          <a:xfrm>
            <a:off x="457200" y="2450592"/>
            <a:ext cx="731520" cy="237744"/>
          </a:xfrm>
          <a:prstGeom prst="roundRect">
            <a:avLst>
              <a:gd name="adj" fmla="val 15385"/>
            </a:avLst>
          </a:prstGeom>
          <a:solidFill>
            <a:srgbClr val="E8742C"/>
          </a:solidFill>
          <a:ln/>
        </p:spPr>
      </p:sp>
      <p:sp>
        <p:nvSpPr>
          <p:cNvPr id="18" name="Text 15"/>
          <p:cNvSpPr/>
          <p:nvPr/>
        </p:nvSpPr>
        <p:spPr>
          <a:xfrm>
            <a:off x="457200" y="2450592"/>
            <a:ext cx="731520" cy="237744"/>
          </a:xfrm>
          <a:prstGeom prst="rect">
            <a:avLst/>
          </a:prstGeom>
          <a:noFill/>
          <a:ln/>
        </p:spPr>
        <p:txBody>
          <a:bodyPr wrap="square" rtlCol="0" anchor="ctr">
            <a:normAutofit/>
          </a:bodyP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行 动</a:t>
            </a:r>
            <a:endParaRPr lang="en-US" sz="900" dirty="0"/>
          </a:p>
        </p:txBody>
      </p:sp>
      <p:sp>
        <p:nvSpPr>
          <p:cNvPr id="19" name="Text 16"/>
          <p:cNvSpPr/>
          <p:nvPr/>
        </p:nvSpPr>
        <p:spPr>
          <a:xfrm>
            <a:off x="457200" y="2743200"/>
            <a:ext cx="5120640" cy="713232"/>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强化中国本土HCC免疫联合产品在HBV相关HCC中的差异化定位；开展真实世界研究验证中国患者疗效；关注HBV相关HCC的精准治疗生物标志物。</a:t>
            </a:r>
            <a:endParaRPr lang="en-US" sz="1000" dirty="0"/>
          </a:p>
        </p:txBody>
      </p:sp>
      <p:sp>
        <p:nvSpPr>
          <p:cNvPr id="20" name="Shape 17"/>
          <p:cNvSpPr/>
          <p:nvPr/>
        </p:nvSpPr>
        <p:spPr>
          <a:xfrm>
            <a:off x="457200" y="3547872"/>
            <a:ext cx="5120640" cy="658368"/>
          </a:xfrm>
          <a:prstGeom prst="roundRect">
            <a:avLst>
              <a:gd name="adj" fmla="val 8333"/>
            </a:avLst>
          </a:prstGeom>
          <a:solidFill>
            <a:srgbClr val="E8F4F2"/>
          </a:solidFill>
          <a:ln w="12700">
            <a:solidFill>
              <a:srgbClr val="0D7A6F"/>
            </a:solidFill>
            <a:prstDash val="solid"/>
          </a:ln>
        </p:spPr>
      </p:sp>
      <p:sp>
        <p:nvSpPr>
          <p:cNvPr id="21" name="Shape 18"/>
          <p:cNvSpPr/>
          <p:nvPr/>
        </p:nvSpPr>
        <p:spPr>
          <a:xfrm>
            <a:off x="457200" y="3547872"/>
            <a:ext cx="54864" cy="658368"/>
          </a:xfrm>
          <a:prstGeom prst="rect">
            <a:avLst/>
          </a:prstGeom>
          <a:solidFill>
            <a:srgbClr val="0D7A6F"/>
          </a:solidFill>
          <a:ln/>
        </p:spPr>
      </p:sp>
      <p:sp>
        <p:nvSpPr>
          <p:cNvPr id="22" name="Text 19"/>
          <p:cNvSpPr/>
          <p:nvPr/>
        </p:nvSpPr>
        <p:spPr>
          <a:xfrm>
            <a:off x="594360" y="3593592"/>
            <a:ext cx="1371600" cy="201168"/>
          </a:xfrm>
          <a:prstGeom prst="rect">
            <a:avLst/>
          </a:prstGeom>
          <a:noFill/>
          <a:ln/>
        </p:spPr>
        <p:txBody>
          <a:bodyPr wrap="square" rtlCol="0" anchor="ctr">
            <a:normAutofit/>
          </a:bodyPr>
          <a:lstStyle/>
          <a:p>
            <a:pPr algn="l" indent="0" marL="0">
              <a:buNone/>
            </a:pPr>
            <a:r>
              <a:rPr lang="en-US" sz="800" b="1" spc="50" kern="0" dirty="0">
                <a:solidFill>
                  <a:srgbClr val="0D7A6F"/>
                </a:solidFill>
                <a:latin typeface="Calibri" pitchFamily="34" charset="0"/>
                <a:ea typeface="Calibri" pitchFamily="34" charset="-122"/>
                <a:cs typeface="Calibri" pitchFamily="34" charset="-120"/>
              </a:rPr>
              <a:t>恒沐启示</a:t>
            </a:r>
            <a:endParaRPr lang="en-US" sz="800" dirty="0"/>
          </a:p>
        </p:txBody>
      </p:sp>
      <p:sp>
        <p:nvSpPr>
          <p:cNvPr id="23" name="Text 20"/>
          <p:cNvSpPr/>
          <p:nvPr/>
        </p:nvSpPr>
        <p:spPr>
          <a:xfrm>
            <a:off x="594360" y="3794760"/>
            <a:ext cx="4846320" cy="36576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恒沐作为HBV一线治疗药物，在HCC术后抗病毒管理中角色需被明确——术后HBV再激活预防和长期病毒抑制。恒沐的骨肾安全性优势在HCC患者中更有价值。</a:t>
            </a:r>
            <a:endParaRPr lang="en-US" sz="900" dirty="0"/>
          </a:p>
        </p:txBody>
      </p:sp>
      <p:sp>
        <p:nvSpPr>
          <p:cNvPr id="24" name="Shape 21"/>
          <p:cNvSpPr/>
          <p:nvPr/>
        </p:nvSpPr>
        <p:spPr>
          <a:xfrm>
            <a:off x="5897880" y="1371600"/>
            <a:ext cx="2788920" cy="2834640"/>
          </a:xfrm>
          <a:prstGeom prst="roundRect">
            <a:avLst>
              <a:gd name="adj" fmla="val 1967"/>
            </a:avLst>
          </a:prstGeom>
          <a:solidFill>
            <a:srgbClr val="FFFFFF"/>
          </a:solidFill>
          <a:ln w="12700">
            <a:solidFill>
              <a:srgbClr val="D1E0DD"/>
            </a:solidFill>
            <a:prstDash val="solid"/>
          </a:ln>
          <a:effectLst>
            <a:outerShdw sx="100000" sy="100000" kx="0" ky="0" algn="bl" rotWithShape="0" blurRad="50800" dist="0" dir="16200000">
              <a:srgbClr val="0D7A6F08">
                <a:alpha val="75000"/>
              </a:srgbClr>
            </a:outerShdw>
          </a:effectLst>
        </p:spPr>
      </p:sp>
      <p:sp>
        <p:nvSpPr>
          <p:cNvPr id="25" name="Text 22"/>
          <p:cNvSpPr/>
          <p:nvPr/>
        </p:nvSpPr>
        <p:spPr>
          <a:xfrm>
            <a:off x="6035040" y="1463040"/>
            <a:ext cx="2514600" cy="228600"/>
          </a:xfrm>
          <a:prstGeom prst="rect">
            <a:avLst/>
          </a:prstGeom>
          <a:noFill/>
          <a:ln/>
        </p:spPr>
        <p:txBody>
          <a:bodyPr wrap="square" rtlCol="0" anchor="ctr">
            <a:normAutofit/>
          </a:bodyPr>
          <a:lstStyle/>
          <a:p>
            <a:pPr algn="ctr" indent="0" marL="0">
              <a:buNone/>
            </a:pPr>
            <a:r>
              <a:rPr lang="en-US" sz="900" b="1" dirty="0">
                <a:solidFill>
                  <a:srgbClr val="64748B"/>
                </a:solidFill>
                <a:latin typeface="Calibri" pitchFamily="34" charset="0"/>
                <a:ea typeface="Calibri" pitchFamily="34" charset="-122"/>
                <a:cs typeface="Calibri" pitchFamily="34" charset="-120"/>
              </a:rPr>
              <a:t>HCC免疫联合方案疗效对比 (OS个月)</a:t>
            </a:r>
            <a:endParaRPr lang="en-US" sz="900" dirty="0"/>
          </a:p>
        </p:txBody>
      </p:sp>
      <p:sp>
        <p:nvSpPr>
          <p:cNvPr id="26" name="Shape 23"/>
          <p:cNvSpPr/>
          <p:nvPr/>
        </p:nvSpPr>
        <p:spPr>
          <a:xfrm>
            <a:off x="0" y="4988052"/>
            <a:ext cx="9144000" cy="45720"/>
          </a:xfrm>
          <a:prstGeom prst="rect">
            <a:avLst/>
          </a:prstGeom>
          <a:solidFill>
            <a:srgbClr val="0D7A6F"/>
          </a:solidFill>
          <a:ln/>
        </p:spPr>
      </p:sp>
      <p:sp>
        <p:nvSpPr>
          <p:cNvPr id="27" name="Shape 24"/>
          <p:cNvSpPr/>
          <p:nvPr/>
        </p:nvSpPr>
        <p:spPr>
          <a:xfrm>
            <a:off x="0" y="4988052"/>
            <a:ext cx="1828800" cy="45720"/>
          </a:xfrm>
          <a:prstGeom prst="rect">
            <a:avLst/>
          </a:prstGeom>
          <a:solidFill>
            <a:srgbClr val="E8742C"/>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A6F"/>
          </a:solidFill>
          <a:ln/>
        </p:spPr>
      </p:sp>
      <p:sp>
        <p:nvSpPr>
          <p:cNvPr id="3" name="Shape 1"/>
          <p:cNvSpPr/>
          <p:nvPr/>
        </p:nvSpPr>
        <p:spPr>
          <a:xfrm>
            <a:off x="0" y="73152"/>
            <a:ext cx="2286000" cy="36576"/>
          </a:xfrm>
          <a:prstGeom prst="rect">
            <a:avLst/>
          </a:prstGeom>
          <a:solidFill>
            <a:srgbClr val="E8742C"/>
          </a:solidFill>
          <a:ln/>
        </p:spPr>
      </p:sp>
      <p:sp>
        <p:nvSpPr>
          <p:cNvPr id="4" name="Shape 2"/>
          <p:cNvSpPr/>
          <p:nvPr/>
        </p:nvSpPr>
        <p:spPr>
          <a:xfrm>
            <a:off x="2286000" y="73152"/>
            <a:ext cx="1371600" cy="36576"/>
          </a:xfrm>
          <a:prstGeom prst="rect">
            <a:avLst/>
          </a:prstGeom>
          <a:solidFill>
            <a:srgbClr val="2563EB"/>
          </a:solidFill>
          <a:ln/>
        </p:spPr>
      </p:sp>
      <p:sp>
        <p:nvSpPr>
          <p:cNvPr id="5" name="Text 3"/>
          <p:cNvSpPr/>
          <p:nvPr/>
        </p:nvSpPr>
        <p:spPr>
          <a:xfrm>
            <a:off x="457200" y="320040"/>
            <a:ext cx="8229600" cy="457200"/>
          </a:xfrm>
          <a:prstGeom prst="rect">
            <a:avLst/>
          </a:prstGeom>
          <a:noFill/>
          <a:ln/>
        </p:spPr>
        <p:txBody>
          <a:bodyPr wrap="square" rtlCol="0" anchor="ctr">
            <a:normAutofit/>
          </a:bodyPr>
          <a:lstStyle/>
          <a:p>
            <a:pPr algn="l" indent="0" marL="0">
              <a:buNone/>
            </a:pPr>
            <a:r>
              <a:rPr lang="en-US" sz="2000" b="1" spc="100" kern="0" dirty="0">
                <a:solidFill>
                  <a:srgbClr val="1E293B"/>
                </a:solidFill>
                <a:latin typeface="Georgia" pitchFamily="34" charset="0"/>
                <a:ea typeface="Georgia" pitchFamily="34" charset="-122"/>
                <a:cs typeface="Georgia" pitchFamily="34" charset="-120"/>
              </a:rPr>
              <a:t>观察项 · 持续关注但暂不行动</a:t>
            </a:r>
            <a:endParaRPr lang="en-US" sz="2000" dirty="0"/>
          </a:p>
        </p:txBody>
      </p:sp>
      <p:sp>
        <p:nvSpPr>
          <p:cNvPr id="6" name="Shape 4"/>
          <p:cNvSpPr/>
          <p:nvPr/>
        </p:nvSpPr>
        <p:spPr>
          <a:xfrm>
            <a:off x="457200" y="822960"/>
            <a:ext cx="1097280" cy="27432"/>
          </a:xfrm>
          <a:prstGeom prst="rect">
            <a:avLst/>
          </a:prstGeom>
          <a:solidFill>
            <a:srgbClr val="2563EB"/>
          </a:solidFill>
          <a:ln/>
        </p:spPr>
      </p:sp>
      <p:sp>
        <p:nvSpPr>
          <p:cNvPr id="7" name="Shape 5"/>
          <p:cNvSpPr/>
          <p:nvPr/>
        </p:nvSpPr>
        <p:spPr>
          <a:xfrm>
            <a:off x="1554480" y="822960"/>
            <a:ext cx="548640" cy="27432"/>
          </a:xfrm>
          <a:prstGeom prst="rect">
            <a:avLst/>
          </a:prstGeom>
          <a:solidFill>
            <a:srgbClr val="1A9B8E"/>
          </a:solidFill>
          <a:ln/>
        </p:spPr>
      </p:sp>
      <p:sp>
        <p:nvSpPr>
          <p:cNvPr id="8" name="Shape 6"/>
          <p:cNvSpPr/>
          <p:nvPr/>
        </p:nvSpPr>
        <p:spPr>
          <a:xfrm>
            <a:off x="457200" y="1005840"/>
            <a:ext cx="3840480" cy="3246120"/>
          </a:xfrm>
          <a:prstGeom prst="roundRect">
            <a:avLst>
              <a:gd name="adj" fmla="val 1690"/>
            </a:avLst>
          </a:prstGeom>
          <a:solidFill>
            <a:srgbClr val="FFFFFF"/>
          </a:solidFill>
          <a:ln w="12700">
            <a:solidFill>
              <a:srgbClr val="D1E0DD"/>
            </a:solidFill>
            <a:prstDash val="solid"/>
          </a:ln>
          <a:effectLst>
            <a:outerShdw sx="100000" sy="100000" kx="0" ky="0" algn="bl" rotWithShape="0" blurRad="50800" dist="0" dir="16200000">
              <a:srgbClr val="0D7A6F10">
                <a:alpha val="75000"/>
              </a:srgbClr>
            </a:outerShdw>
          </a:effectLst>
        </p:spPr>
      </p:sp>
      <p:sp>
        <p:nvSpPr>
          <p:cNvPr id="9" name="Shape 7"/>
          <p:cNvSpPr/>
          <p:nvPr/>
        </p:nvSpPr>
        <p:spPr>
          <a:xfrm>
            <a:off x="457200" y="1005840"/>
            <a:ext cx="3840480" cy="54864"/>
          </a:xfrm>
          <a:prstGeom prst="rect">
            <a:avLst/>
          </a:prstGeom>
          <a:solidFill>
            <a:srgbClr val="2563EB"/>
          </a:solidFill>
          <a:ln/>
        </p:spPr>
      </p:sp>
      <p:sp>
        <p:nvSpPr>
          <p:cNvPr id="10" name="Text 8"/>
          <p:cNvSpPr/>
          <p:nvPr/>
        </p:nvSpPr>
        <p:spPr>
          <a:xfrm>
            <a:off x="640080" y="1143000"/>
            <a:ext cx="1371600" cy="228600"/>
          </a:xfrm>
          <a:prstGeom prst="rect">
            <a:avLst/>
          </a:prstGeom>
          <a:noFill/>
          <a:ln/>
        </p:spPr>
        <p:txBody>
          <a:bodyPr wrap="square" rtlCol="0" anchor="ctr">
            <a:normAutofit/>
          </a:bodyPr>
          <a:lstStyle/>
          <a:p>
            <a:pPr algn="l" indent="0" marL="0">
              <a:buNone/>
            </a:pPr>
            <a:r>
              <a:rPr lang="en-US" sz="900" b="1" spc="50" kern="0" dirty="0">
                <a:solidFill>
                  <a:srgbClr val="2563EB"/>
                </a:solidFill>
                <a:latin typeface="Calibri" pitchFamily="34" charset="0"/>
                <a:ea typeface="Calibri" pitchFamily="34" charset="-122"/>
                <a:cs typeface="Calibri" pitchFamily="34" charset="-120"/>
              </a:rPr>
              <a:t>观察 1</a:t>
            </a:r>
            <a:endParaRPr lang="en-US" sz="900" dirty="0"/>
          </a:p>
        </p:txBody>
      </p:sp>
      <p:sp>
        <p:nvSpPr>
          <p:cNvPr id="11" name="Text 9"/>
          <p:cNvSpPr/>
          <p:nvPr/>
        </p:nvSpPr>
        <p:spPr>
          <a:xfrm>
            <a:off x="640080" y="1389888"/>
            <a:ext cx="3474720" cy="365760"/>
          </a:xfrm>
          <a:prstGeom prst="rect">
            <a:avLst/>
          </a:prstGeom>
          <a:noFill/>
          <a:ln/>
        </p:spPr>
        <p:txBody>
          <a:bodyPr wrap="square" rtlCol="0" anchor="t">
            <a:normAutofit/>
          </a:bodyPr>
          <a:lstStyle/>
          <a:p>
            <a:pPr algn="l" indent="0" marL="0">
              <a:buNone/>
            </a:pPr>
            <a:r>
              <a:rPr lang="en-US" sz="1300" b="1" dirty="0">
                <a:solidFill>
                  <a:srgbClr val="1E293B"/>
                </a:solidFill>
                <a:latin typeface="Georgia" pitchFamily="34" charset="0"/>
                <a:ea typeface="Georgia" pitchFamily="34" charset="-122"/>
                <a:cs typeface="Georgia" pitchFamily="34" charset="-120"/>
              </a:rPr>
              <a:t>术语革新与监管沟通</a:t>
            </a:r>
            <a:endParaRPr lang="en-US" sz="1300" dirty="0"/>
          </a:p>
        </p:txBody>
      </p:sp>
      <p:sp>
        <p:nvSpPr>
          <p:cNvPr id="12" name="Text 10"/>
          <p:cNvSpPr/>
          <p:nvPr/>
        </p:nvSpPr>
        <p:spPr>
          <a:xfrm>
            <a:off x="640080" y="1828800"/>
            <a:ext cx="3474720" cy="640080"/>
          </a:xfrm>
          <a:prstGeom prst="rect">
            <a:avLst/>
          </a:prstGeom>
          <a:noFill/>
          <a:ln/>
        </p:spPr>
        <p:txBody>
          <a:bodyPr wrap="square" rtlCol="0" anchor="t"/>
          <a:lstStyle/>
          <a:p>
            <a:pPr algn="l" indent="0" marL="0">
              <a:lnSpc>
                <a:spcPct val="130000"/>
              </a:lnSpc>
              <a:buNone/>
            </a:pPr>
            <a:r>
              <a:rPr lang="en-US" sz="1000" dirty="0">
                <a:solidFill>
                  <a:srgbClr val="64748B"/>
                </a:solidFill>
                <a:latin typeface="Calibri" pitchFamily="34" charset="0"/>
                <a:ea typeface="Calibri" pitchFamily="34" charset="-122"/>
                <a:cs typeface="Calibri" pitchFamily="34" charset="-120"/>
              </a:rPr>
              <a:t>学术界提出用"已解决的慢性感染"替代"功能性治愈"，用"持续控制"替代"部分治愈"。</a:t>
            </a:r>
            <a:endParaRPr lang="en-US" sz="1000" dirty="0"/>
          </a:p>
        </p:txBody>
      </p:sp>
      <p:sp>
        <p:nvSpPr>
          <p:cNvPr id="13" name="Text 11"/>
          <p:cNvSpPr/>
          <p:nvPr/>
        </p:nvSpPr>
        <p:spPr>
          <a:xfrm>
            <a:off x="640080" y="2514600"/>
            <a:ext cx="3474720" cy="548640"/>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需持续关注是否被国际指南和中国指南采纳，提前准备话术转换。</a:t>
            </a:r>
            <a:endParaRPr lang="en-US" sz="1000" dirty="0"/>
          </a:p>
        </p:txBody>
      </p:sp>
      <p:sp>
        <p:nvSpPr>
          <p:cNvPr id="14" name="Shape 12"/>
          <p:cNvSpPr/>
          <p:nvPr/>
        </p:nvSpPr>
        <p:spPr>
          <a:xfrm>
            <a:off x="640080" y="3154680"/>
            <a:ext cx="3474720" cy="914400"/>
          </a:xfrm>
          <a:prstGeom prst="roundRect">
            <a:avLst>
              <a:gd name="adj" fmla="val 4000"/>
            </a:avLst>
          </a:prstGeom>
          <a:solidFill>
            <a:srgbClr val="E8F4F2"/>
          </a:solidFill>
          <a:ln w="9525">
            <a:solidFill>
              <a:srgbClr val="0D7A6F"/>
            </a:solidFill>
            <a:prstDash val="solid"/>
          </a:ln>
        </p:spPr>
      </p:sp>
      <p:sp>
        <p:nvSpPr>
          <p:cNvPr id="15" name="Shape 13"/>
          <p:cNvSpPr/>
          <p:nvPr/>
        </p:nvSpPr>
        <p:spPr>
          <a:xfrm>
            <a:off x="640080" y="3154680"/>
            <a:ext cx="45720" cy="914400"/>
          </a:xfrm>
          <a:prstGeom prst="rect">
            <a:avLst/>
          </a:prstGeom>
          <a:solidFill>
            <a:srgbClr val="0D7A6F"/>
          </a:solidFill>
          <a:ln/>
        </p:spPr>
      </p:sp>
      <p:sp>
        <p:nvSpPr>
          <p:cNvPr id="16" name="Text 14"/>
          <p:cNvSpPr/>
          <p:nvPr/>
        </p:nvSpPr>
        <p:spPr>
          <a:xfrm>
            <a:off x="731520" y="3200400"/>
            <a:ext cx="1371600" cy="182880"/>
          </a:xfrm>
          <a:prstGeom prst="rect">
            <a:avLst/>
          </a:prstGeom>
          <a:noFill/>
          <a:ln/>
        </p:spPr>
        <p:txBody>
          <a:bodyPr wrap="square" rtlCol="0" anchor="ctr">
            <a:normAutofit/>
          </a:bodyPr>
          <a:lstStyle/>
          <a:p>
            <a:pPr algn="l" indent="0" marL="0">
              <a:buNone/>
            </a:pPr>
            <a:r>
              <a:rPr lang="en-US" sz="700" b="1" spc="50" kern="0" dirty="0">
                <a:solidFill>
                  <a:srgbClr val="0D7A6F"/>
                </a:solidFill>
                <a:latin typeface="Calibri" pitchFamily="34" charset="0"/>
                <a:ea typeface="Calibri" pitchFamily="34" charset="-122"/>
                <a:cs typeface="Calibri" pitchFamily="34" charset="-120"/>
              </a:rPr>
              <a:t>恒沐启示</a:t>
            </a:r>
            <a:endParaRPr lang="en-US" sz="700" dirty="0"/>
          </a:p>
        </p:txBody>
      </p:sp>
      <p:sp>
        <p:nvSpPr>
          <p:cNvPr id="17" name="Text 15"/>
          <p:cNvSpPr/>
          <p:nvPr/>
        </p:nvSpPr>
        <p:spPr>
          <a:xfrm>
            <a:off x="731520" y="3383280"/>
            <a:ext cx="3291840" cy="64008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若术语变更，恒沐的市场定位话术需跟进调整——从"功能性治愈"转为"已解决的慢性感染"路径中的核心NA药物。</a:t>
            </a:r>
            <a:endParaRPr lang="en-US" sz="900" dirty="0"/>
          </a:p>
        </p:txBody>
      </p:sp>
      <p:sp>
        <p:nvSpPr>
          <p:cNvPr id="18" name="Shape 16"/>
          <p:cNvSpPr/>
          <p:nvPr/>
        </p:nvSpPr>
        <p:spPr>
          <a:xfrm>
            <a:off x="4663440" y="1005840"/>
            <a:ext cx="3840480" cy="3246120"/>
          </a:xfrm>
          <a:prstGeom prst="roundRect">
            <a:avLst>
              <a:gd name="adj" fmla="val 1690"/>
            </a:avLst>
          </a:prstGeom>
          <a:solidFill>
            <a:srgbClr val="FFFFFF"/>
          </a:solidFill>
          <a:ln w="12700">
            <a:solidFill>
              <a:srgbClr val="D1E0DD"/>
            </a:solidFill>
            <a:prstDash val="solid"/>
          </a:ln>
          <a:effectLst>
            <a:outerShdw sx="100000" sy="100000" kx="0" ky="0" algn="bl" rotWithShape="0" blurRad="50800" dist="0" dir="16200000">
              <a:srgbClr val="0D7A6F10">
                <a:alpha val="75000"/>
              </a:srgbClr>
            </a:outerShdw>
          </a:effectLst>
        </p:spPr>
      </p:sp>
      <p:sp>
        <p:nvSpPr>
          <p:cNvPr id="19" name="Shape 17"/>
          <p:cNvSpPr/>
          <p:nvPr/>
        </p:nvSpPr>
        <p:spPr>
          <a:xfrm>
            <a:off x="4663440" y="1005840"/>
            <a:ext cx="3840480" cy="54864"/>
          </a:xfrm>
          <a:prstGeom prst="rect">
            <a:avLst/>
          </a:prstGeom>
          <a:solidFill>
            <a:srgbClr val="2563EB"/>
          </a:solidFill>
          <a:ln/>
        </p:spPr>
      </p:sp>
      <p:sp>
        <p:nvSpPr>
          <p:cNvPr id="20" name="Text 18"/>
          <p:cNvSpPr/>
          <p:nvPr/>
        </p:nvSpPr>
        <p:spPr>
          <a:xfrm>
            <a:off x="4846320" y="1143000"/>
            <a:ext cx="1371600" cy="228600"/>
          </a:xfrm>
          <a:prstGeom prst="rect">
            <a:avLst/>
          </a:prstGeom>
          <a:noFill/>
          <a:ln/>
        </p:spPr>
        <p:txBody>
          <a:bodyPr wrap="square" rtlCol="0" anchor="ctr">
            <a:normAutofit/>
          </a:bodyPr>
          <a:lstStyle/>
          <a:p>
            <a:pPr algn="l" indent="0" marL="0">
              <a:buNone/>
            </a:pPr>
            <a:r>
              <a:rPr lang="en-US" sz="900" b="1" spc="50" kern="0" dirty="0">
                <a:solidFill>
                  <a:srgbClr val="2563EB"/>
                </a:solidFill>
                <a:latin typeface="Calibri" pitchFamily="34" charset="0"/>
                <a:ea typeface="Calibri" pitchFamily="34" charset="-122"/>
                <a:cs typeface="Calibri" pitchFamily="34" charset="-120"/>
              </a:rPr>
              <a:t>观察 2</a:t>
            </a:r>
            <a:endParaRPr lang="en-US" sz="900" dirty="0"/>
          </a:p>
        </p:txBody>
      </p:sp>
      <p:sp>
        <p:nvSpPr>
          <p:cNvPr id="21" name="Text 19"/>
          <p:cNvSpPr/>
          <p:nvPr/>
        </p:nvSpPr>
        <p:spPr>
          <a:xfrm>
            <a:off x="4846320" y="1389888"/>
            <a:ext cx="3474720" cy="365760"/>
          </a:xfrm>
          <a:prstGeom prst="rect">
            <a:avLst/>
          </a:prstGeom>
          <a:noFill/>
          <a:ln/>
        </p:spPr>
        <p:txBody>
          <a:bodyPr wrap="square" rtlCol="0" anchor="t">
            <a:normAutofit/>
          </a:bodyPr>
          <a:lstStyle/>
          <a:p>
            <a:pPr algn="l" indent="0" marL="0">
              <a:buNone/>
            </a:pPr>
            <a:r>
              <a:rPr lang="en-US" sz="1300" b="1" dirty="0">
                <a:solidFill>
                  <a:srgbClr val="1E293B"/>
                </a:solidFill>
                <a:latin typeface="Georgia" pitchFamily="34" charset="0"/>
                <a:ea typeface="Georgia" pitchFamily="34" charset="-122"/>
                <a:cs typeface="Georgia" pitchFamily="34" charset="-120"/>
              </a:rPr>
              <a:t>COVID-19疫苗与HBsAg消失的关联</a:t>
            </a:r>
            <a:endParaRPr lang="en-US" sz="1300" dirty="0"/>
          </a:p>
        </p:txBody>
      </p:sp>
      <p:sp>
        <p:nvSpPr>
          <p:cNvPr id="22" name="Text 20"/>
          <p:cNvSpPr/>
          <p:nvPr/>
        </p:nvSpPr>
        <p:spPr>
          <a:xfrm>
            <a:off x="4846320" y="1828800"/>
            <a:ext cx="3474720" cy="640080"/>
          </a:xfrm>
          <a:prstGeom prst="rect">
            <a:avLst/>
          </a:prstGeom>
          <a:noFill/>
          <a:ln/>
        </p:spPr>
        <p:txBody>
          <a:bodyPr wrap="square" rtlCol="0" anchor="t"/>
          <a:lstStyle/>
          <a:p>
            <a:pPr algn="l" indent="0" marL="0">
              <a:lnSpc>
                <a:spcPct val="130000"/>
              </a:lnSpc>
              <a:buNone/>
            </a:pPr>
            <a:r>
              <a:rPr lang="en-US" sz="1000" dirty="0">
                <a:solidFill>
                  <a:srgbClr val="64748B"/>
                </a:solidFill>
                <a:latin typeface="Calibri" pitchFamily="34" charset="0"/>
                <a:ea typeface="Calibri" pitchFamily="34" charset="-122"/>
                <a:cs typeface="Calibri" pitchFamily="34" charset="-120"/>
              </a:rPr>
              <a:t>韩国59,946例显示COVID-19疫苗接种后HBsAg消失率短暂升高（IRR=1.56），随后减弱。</a:t>
            </a:r>
            <a:endParaRPr lang="en-US" sz="1000" dirty="0"/>
          </a:p>
        </p:txBody>
      </p:sp>
      <p:sp>
        <p:nvSpPr>
          <p:cNvPr id="23" name="Text 21"/>
          <p:cNvSpPr/>
          <p:nvPr/>
        </p:nvSpPr>
        <p:spPr>
          <a:xfrm>
            <a:off x="4846320" y="2514600"/>
            <a:ext cx="3474720" cy="548640"/>
          </a:xfrm>
          <a:prstGeom prst="rect">
            <a:avLst/>
          </a:prstGeom>
          <a:noFill/>
          <a:ln/>
        </p:spPr>
        <p:txBody>
          <a:bodyPr wrap="square" rtlCol="0" anchor="t"/>
          <a:lstStyle/>
          <a:p>
            <a:pPr algn="l" indent="0" marL="0">
              <a:lnSpc>
                <a:spcPct val="130000"/>
              </a:lnSpc>
              <a:buNone/>
            </a:pPr>
            <a:r>
              <a:rPr lang="en-US" sz="1000" dirty="0">
                <a:solidFill>
                  <a:srgbClr val="1E293B"/>
                </a:solidFill>
                <a:latin typeface="Calibri" pitchFamily="34" charset="0"/>
                <a:ea typeface="Calibri" pitchFamily="34" charset="-122"/>
                <a:cs typeface="Calibri" pitchFamily="34" charset="-120"/>
              </a:rPr>
              <a:t>证据等级有限，暂作观察。若免疫调节可影响HBV动力学，可能为联合治疗提供新思路。</a:t>
            </a:r>
            <a:endParaRPr lang="en-US" sz="1000" dirty="0"/>
          </a:p>
        </p:txBody>
      </p:sp>
      <p:sp>
        <p:nvSpPr>
          <p:cNvPr id="24" name="Shape 22"/>
          <p:cNvSpPr/>
          <p:nvPr/>
        </p:nvSpPr>
        <p:spPr>
          <a:xfrm>
            <a:off x="4846320" y="3154680"/>
            <a:ext cx="3474720" cy="914400"/>
          </a:xfrm>
          <a:prstGeom prst="roundRect">
            <a:avLst>
              <a:gd name="adj" fmla="val 4000"/>
            </a:avLst>
          </a:prstGeom>
          <a:solidFill>
            <a:srgbClr val="E8F4F2"/>
          </a:solidFill>
          <a:ln w="9525">
            <a:solidFill>
              <a:srgbClr val="0D7A6F"/>
            </a:solidFill>
            <a:prstDash val="solid"/>
          </a:ln>
        </p:spPr>
      </p:sp>
      <p:sp>
        <p:nvSpPr>
          <p:cNvPr id="25" name="Shape 23"/>
          <p:cNvSpPr/>
          <p:nvPr/>
        </p:nvSpPr>
        <p:spPr>
          <a:xfrm>
            <a:off x="4846320" y="3154680"/>
            <a:ext cx="45720" cy="914400"/>
          </a:xfrm>
          <a:prstGeom prst="rect">
            <a:avLst/>
          </a:prstGeom>
          <a:solidFill>
            <a:srgbClr val="0D7A6F"/>
          </a:solidFill>
          <a:ln/>
        </p:spPr>
      </p:sp>
      <p:sp>
        <p:nvSpPr>
          <p:cNvPr id="26" name="Text 24"/>
          <p:cNvSpPr/>
          <p:nvPr/>
        </p:nvSpPr>
        <p:spPr>
          <a:xfrm>
            <a:off x="4937760" y="3200400"/>
            <a:ext cx="1371600" cy="182880"/>
          </a:xfrm>
          <a:prstGeom prst="rect">
            <a:avLst/>
          </a:prstGeom>
          <a:noFill/>
          <a:ln/>
        </p:spPr>
        <p:txBody>
          <a:bodyPr wrap="square" rtlCol="0" anchor="ctr">
            <a:normAutofit/>
          </a:bodyPr>
          <a:lstStyle/>
          <a:p>
            <a:pPr algn="l" indent="0" marL="0">
              <a:buNone/>
            </a:pPr>
            <a:r>
              <a:rPr lang="en-US" sz="700" b="1" spc="50" kern="0" dirty="0">
                <a:solidFill>
                  <a:srgbClr val="0D7A6F"/>
                </a:solidFill>
                <a:latin typeface="Calibri" pitchFamily="34" charset="0"/>
                <a:ea typeface="Calibri" pitchFamily="34" charset="-122"/>
                <a:cs typeface="Calibri" pitchFamily="34" charset="-120"/>
              </a:rPr>
              <a:t>恒沐启示</a:t>
            </a:r>
            <a:endParaRPr lang="en-US" sz="700" dirty="0"/>
          </a:p>
        </p:txBody>
      </p:sp>
      <p:sp>
        <p:nvSpPr>
          <p:cNvPr id="27" name="Text 25"/>
          <p:cNvSpPr/>
          <p:nvPr/>
        </p:nvSpPr>
        <p:spPr>
          <a:xfrm>
            <a:off x="4937760" y="3383280"/>
            <a:ext cx="3291840" cy="640080"/>
          </a:xfrm>
          <a:prstGeom prst="rect">
            <a:avLst/>
          </a:prstGeom>
          <a:noFill/>
          <a:ln/>
        </p:spPr>
        <p:txBody>
          <a:bodyPr wrap="square" rtlCol="0" anchor="t"/>
          <a:lstStyle/>
          <a:p>
            <a:pPr algn="l" indent="0" marL="0">
              <a:lnSpc>
                <a:spcPct val="125000"/>
              </a:lnSpc>
              <a:buNone/>
            </a:pPr>
            <a:r>
              <a:rPr lang="en-US" sz="900" dirty="0">
                <a:solidFill>
                  <a:srgbClr val="0A4A45"/>
                </a:solidFill>
                <a:latin typeface="Calibri" pitchFamily="34" charset="0"/>
                <a:ea typeface="Calibri" pitchFamily="34" charset="-122"/>
                <a:cs typeface="Calibri" pitchFamily="34" charset="-120"/>
              </a:rPr>
              <a:t>需教育临床医生：恒沐患者接种疫苗后HBsAg变化不应误判为药物疗效波动，应正确解读免疫调节现象。</a:t>
            </a:r>
            <a:endParaRPr lang="en-US" sz="900" dirty="0"/>
          </a:p>
        </p:txBody>
      </p:sp>
      <p:sp>
        <p:nvSpPr>
          <p:cNvPr id="28" name="Shape 26"/>
          <p:cNvSpPr/>
          <p:nvPr/>
        </p:nvSpPr>
        <p:spPr>
          <a:xfrm>
            <a:off x="0" y="4988052"/>
            <a:ext cx="9144000" cy="45720"/>
          </a:xfrm>
          <a:prstGeom prst="rect">
            <a:avLst/>
          </a:prstGeom>
          <a:solidFill>
            <a:srgbClr val="0D7A6F"/>
          </a:solidFill>
          <a:ln/>
        </p:spPr>
      </p:sp>
      <p:sp>
        <p:nvSpPr>
          <p:cNvPr id="29" name="Shape 27"/>
          <p:cNvSpPr/>
          <p:nvPr/>
        </p:nvSpPr>
        <p:spPr>
          <a:xfrm>
            <a:off x="0" y="4988052"/>
            <a:ext cx="1828800" cy="45720"/>
          </a:xfrm>
          <a:prstGeom prst="rect">
            <a:avLst/>
          </a:prstGeom>
          <a:solidFill>
            <a:srgbClr val="E8742C"/>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B"/>
        </a:solidFill>
      </p:bgPr>
    </p:bg>
    <p:spTree>
      <p:nvGrpSpPr>
        <p:cNvPr id="1" name=""/>
        <p:cNvGrpSpPr/>
        <p:nvPr/>
      </p:nvGrpSpPr>
      <p:grpSpPr>
        <a:xfrm>
          <a:off x="0" y="0"/>
          <a:ext cx="0" cy="0"/>
          <a:chOff x="0" y="0"/>
          <a:chExt cx="0" cy="0"/>
        </a:xfrm>
      </p:grpSpPr>
      <p:graphicFrame>
        <p:nvGraphicFramePr>
          <p:cNvPr id="2" name="Chart 0" descr=""/>
          <p:cNvGraphicFramePr/>
          <p:nvPr/>
        </p:nvGraphicFramePr>
        <p:xfrm>
          <a:off x="5897880" y="1417320"/>
          <a:ext cx="2651760" cy="1920240"/>
        </p:xfrm>
        <a:graphic xmlns:a="http://schemas.openxmlformats.org/drawingml/2006/main">
          <a:graphicData uri="http://schemas.openxmlformats.org/drawingml/2006/chart">
            <c:chart xmlns:c="http://schemas.openxmlformats.org/drawingml/2006/chart" r:id="rId1"/>
          </a:graphicData>
        </a:graphic>
      </p:graphicFrame>
      <p:sp>
        <p:nvSpPr>
          <p:cNvPr id="3" name="Shape 0"/>
          <p:cNvSpPr/>
          <p:nvPr/>
        </p:nvSpPr>
        <p:spPr>
          <a:xfrm>
            <a:off x="0" y="0"/>
            <a:ext cx="9144000" cy="109728"/>
          </a:xfrm>
          <a:prstGeom prst="rect">
            <a:avLst/>
          </a:prstGeom>
          <a:solidFill>
            <a:srgbClr val="0D7A6F"/>
          </a:solidFill>
          <a:ln/>
        </p:spPr>
      </p:sp>
      <p:sp>
        <p:nvSpPr>
          <p:cNvPr id="4" name="Shape 1"/>
          <p:cNvSpPr/>
          <p:nvPr/>
        </p:nvSpPr>
        <p:spPr>
          <a:xfrm>
            <a:off x="0" y="109728"/>
            <a:ext cx="2743200" cy="36576"/>
          </a:xfrm>
          <a:prstGeom prst="rect">
            <a:avLst/>
          </a:prstGeom>
          <a:solidFill>
            <a:srgbClr val="E8742C"/>
          </a:solidFill>
          <a:ln/>
        </p:spPr>
      </p:sp>
      <p:sp>
        <p:nvSpPr>
          <p:cNvPr id="5" name="Shape 2"/>
          <p:cNvSpPr/>
          <p:nvPr/>
        </p:nvSpPr>
        <p:spPr>
          <a:xfrm>
            <a:off x="2743200" y="109728"/>
            <a:ext cx="1828800" cy="36576"/>
          </a:xfrm>
          <a:prstGeom prst="rect">
            <a:avLst/>
          </a:prstGeom>
          <a:solidFill>
            <a:srgbClr val="2563EB"/>
          </a:solidFill>
          <a:ln/>
        </p:spPr>
      </p:sp>
      <p:sp>
        <p:nvSpPr>
          <p:cNvPr id="6" name="Shape 3"/>
          <p:cNvSpPr/>
          <p:nvPr/>
        </p:nvSpPr>
        <p:spPr>
          <a:xfrm>
            <a:off x="7315200" y="3017520"/>
            <a:ext cx="1371600" cy="1371600"/>
          </a:xfrm>
          <a:prstGeom prst="ellipse">
            <a:avLst/>
          </a:prstGeom>
          <a:solidFill>
            <a:srgbClr val="F0F8F7"/>
          </a:solidFill>
          <a:ln/>
        </p:spPr>
      </p:sp>
      <p:sp>
        <p:nvSpPr>
          <p:cNvPr id="7" name="Shape 4"/>
          <p:cNvSpPr/>
          <p:nvPr/>
        </p:nvSpPr>
        <p:spPr>
          <a:xfrm>
            <a:off x="91440" y="365760"/>
            <a:ext cx="1371600" cy="1371600"/>
          </a:xfrm>
          <a:prstGeom prst="ellipse">
            <a:avLst/>
          </a:prstGeom>
          <a:solidFill>
            <a:srgbClr val="FFF5EB"/>
          </a:solidFill>
          <a:ln/>
        </p:spPr>
      </p:sp>
      <p:sp>
        <p:nvSpPr>
          <p:cNvPr id="8" name="Text 5"/>
          <p:cNvSpPr/>
          <p:nvPr/>
        </p:nvSpPr>
        <p:spPr>
          <a:xfrm>
            <a:off x="457200" y="320040"/>
            <a:ext cx="8229600" cy="457200"/>
          </a:xfrm>
          <a:prstGeom prst="rect">
            <a:avLst/>
          </a:prstGeom>
          <a:noFill/>
          <a:ln/>
        </p:spPr>
        <p:txBody>
          <a:bodyPr wrap="square" rtlCol="0" anchor="ctr">
            <a:normAutofit/>
          </a:bodyPr>
          <a:lstStyle/>
          <a:p>
            <a:pPr algn="ctr" indent="0" marL="0">
              <a:buNone/>
            </a:pPr>
            <a:r>
              <a:rPr lang="en-US" sz="2400" b="1" spc="150" kern="0" dirty="0">
                <a:solidFill>
                  <a:srgbClr val="0A4A45"/>
                </a:solidFill>
                <a:latin typeface="Georgia" pitchFamily="34" charset="0"/>
                <a:ea typeface="Georgia" pitchFamily="34" charset="-122"/>
                <a:cs typeface="Georgia" pitchFamily="34" charset="-120"/>
              </a:rPr>
              <a:t>恒沐® 四维行动路线图</a:t>
            </a:r>
            <a:endParaRPr lang="en-US" sz="2400" dirty="0"/>
          </a:p>
        </p:txBody>
      </p:sp>
      <p:sp>
        <p:nvSpPr>
          <p:cNvPr id="9" name="Shape 6"/>
          <p:cNvSpPr/>
          <p:nvPr/>
        </p:nvSpPr>
        <p:spPr>
          <a:xfrm>
            <a:off x="3200400" y="822960"/>
            <a:ext cx="1371600" cy="27432"/>
          </a:xfrm>
          <a:prstGeom prst="rect">
            <a:avLst/>
          </a:prstGeom>
          <a:solidFill>
            <a:srgbClr val="E8742C"/>
          </a:solidFill>
          <a:ln/>
        </p:spPr>
      </p:sp>
      <p:sp>
        <p:nvSpPr>
          <p:cNvPr id="10" name="Shape 7"/>
          <p:cNvSpPr/>
          <p:nvPr/>
        </p:nvSpPr>
        <p:spPr>
          <a:xfrm>
            <a:off x="4572000" y="822960"/>
            <a:ext cx="1371600" cy="27432"/>
          </a:xfrm>
          <a:prstGeom prst="rect">
            <a:avLst/>
          </a:prstGeom>
          <a:solidFill>
            <a:srgbClr val="2563EB"/>
          </a:solidFill>
          <a:ln/>
        </p:spPr>
      </p:sp>
      <p:sp>
        <p:nvSpPr>
          <p:cNvPr id="11" name="Shape 8"/>
          <p:cNvSpPr/>
          <p:nvPr/>
        </p:nvSpPr>
        <p:spPr>
          <a:xfrm>
            <a:off x="457200" y="1051560"/>
            <a:ext cx="4846320" cy="566928"/>
          </a:xfrm>
          <a:prstGeom prst="roundRect">
            <a:avLst>
              <a:gd name="adj" fmla="val 6452"/>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12" name="Shape 9"/>
          <p:cNvSpPr/>
          <p:nvPr/>
        </p:nvSpPr>
        <p:spPr>
          <a:xfrm>
            <a:off x="457200" y="1051560"/>
            <a:ext cx="54864" cy="566928"/>
          </a:xfrm>
          <a:prstGeom prst="rect">
            <a:avLst/>
          </a:prstGeom>
          <a:solidFill>
            <a:srgbClr val="0D7A6F"/>
          </a:solidFill>
          <a:ln/>
        </p:spPr>
      </p:sp>
      <p:sp>
        <p:nvSpPr>
          <p:cNvPr id="13" name="Shape 10"/>
          <p:cNvSpPr/>
          <p:nvPr/>
        </p:nvSpPr>
        <p:spPr>
          <a:xfrm>
            <a:off x="594360" y="1124712"/>
            <a:ext cx="384048" cy="384048"/>
          </a:xfrm>
          <a:prstGeom prst="ellipse">
            <a:avLst/>
          </a:prstGeom>
          <a:solidFill>
            <a:srgbClr val="0D7A6F"/>
          </a:solidFill>
          <a:ln/>
        </p:spPr>
      </p:sp>
      <p:sp>
        <p:nvSpPr>
          <p:cNvPr id="14" name="Text 11"/>
          <p:cNvSpPr/>
          <p:nvPr/>
        </p:nvSpPr>
        <p:spPr>
          <a:xfrm>
            <a:off x="594360" y="1124712"/>
            <a:ext cx="384048" cy="384048"/>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筛</a:t>
            </a:r>
            <a:endParaRPr lang="en-US" sz="1400" dirty="0"/>
          </a:p>
        </p:txBody>
      </p:sp>
      <p:sp>
        <p:nvSpPr>
          <p:cNvPr id="15" name="Text 12"/>
          <p:cNvSpPr/>
          <p:nvPr/>
        </p:nvSpPr>
        <p:spPr>
          <a:xfrm>
            <a:off x="1097280" y="1097280"/>
            <a:ext cx="4114800" cy="475488"/>
          </a:xfrm>
          <a:prstGeom prst="rect">
            <a:avLst/>
          </a:prstGeom>
          <a:noFill/>
          <a:ln/>
        </p:spPr>
        <p:txBody>
          <a:bodyPr wrap="square" rtlCol="0" anchor="ctr">
            <a:normAutofit/>
          </a:bodyPr>
          <a:lstStyle/>
          <a:p>
            <a:pPr algn="l" indent="0" marL="0">
              <a:lnSpc>
                <a:spcPct val="125000"/>
              </a:lnSpc>
              <a:buNone/>
            </a:pPr>
            <a:r>
              <a:rPr lang="en-US" sz="900" dirty="0">
                <a:solidFill>
                  <a:srgbClr val="1E293B"/>
                </a:solidFill>
                <a:latin typeface="Calibri" pitchFamily="34" charset="0"/>
                <a:ea typeface="Calibri" pitchFamily="34" charset="-122"/>
                <a:cs typeface="Calibri" pitchFamily="34" charset="-120"/>
              </a:rPr>
              <a:t>优势人群筛选 · qHBsAg&lt;100 IU/mL群体 · 63%恒沐患者为优势人群</a:t>
            </a:r>
            <a:endParaRPr lang="en-US" sz="900" dirty="0"/>
          </a:p>
        </p:txBody>
      </p:sp>
      <p:sp>
        <p:nvSpPr>
          <p:cNvPr id="16" name="Shape 13"/>
          <p:cNvSpPr/>
          <p:nvPr/>
        </p:nvSpPr>
        <p:spPr>
          <a:xfrm>
            <a:off x="457200" y="1691640"/>
            <a:ext cx="4846320" cy="566928"/>
          </a:xfrm>
          <a:prstGeom prst="roundRect">
            <a:avLst>
              <a:gd name="adj" fmla="val 6452"/>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17" name="Shape 14"/>
          <p:cNvSpPr/>
          <p:nvPr/>
        </p:nvSpPr>
        <p:spPr>
          <a:xfrm>
            <a:off x="457200" y="1691640"/>
            <a:ext cx="54864" cy="566928"/>
          </a:xfrm>
          <a:prstGeom prst="rect">
            <a:avLst/>
          </a:prstGeom>
          <a:solidFill>
            <a:srgbClr val="2563EB"/>
          </a:solidFill>
          <a:ln/>
        </p:spPr>
      </p:sp>
      <p:sp>
        <p:nvSpPr>
          <p:cNvPr id="18" name="Shape 15"/>
          <p:cNvSpPr/>
          <p:nvPr/>
        </p:nvSpPr>
        <p:spPr>
          <a:xfrm>
            <a:off x="594360" y="1764792"/>
            <a:ext cx="384048" cy="384048"/>
          </a:xfrm>
          <a:prstGeom prst="ellipse">
            <a:avLst/>
          </a:prstGeom>
          <a:solidFill>
            <a:srgbClr val="2563EB"/>
          </a:solidFill>
          <a:ln/>
        </p:spPr>
      </p:sp>
      <p:sp>
        <p:nvSpPr>
          <p:cNvPr id="19" name="Text 16"/>
          <p:cNvSpPr/>
          <p:nvPr/>
        </p:nvSpPr>
        <p:spPr>
          <a:xfrm>
            <a:off x="594360" y="1764792"/>
            <a:ext cx="384048" cy="384048"/>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诊</a:t>
            </a:r>
            <a:endParaRPr lang="en-US" sz="1400" dirty="0"/>
          </a:p>
        </p:txBody>
      </p:sp>
      <p:sp>
        <p:nvSpPr>
          <p:cNvPr id="20" name="Text 17"/>
          <p:cNvSpPr/>
          <p:nvPr/>
        </p:nvSpPr>
        <p:spPr>
          <a:xfrm>
            <a:off x="1097280" y="1737360"/>
            <a:ext cx="4114800" cy="475488"/>
          </a:xfrm>
          <a:prstGeom prst="rect">
            <a:avLst/>
          </a:prstGeom>
          <a:noFill/>
          <a:ln/>
        </p:spPr>
        <p:txBody>
          <a:bodyPr wrap="square" rtlCol="0" anchor="ctr">
            <a:normAutofit/>
          </a:bodyPr>
          <a:lstStyle/>
          <a:p>
            <a:pPr algn="l" indent="0" marL="0">
              <a:lnSpc>
                <a:spcPct val="125000"/>
              </a:lnSpc>
              <a:buNone/>
            </a:pPr>
            <a:r>
              <a:rPr lang="en-US" sz="900" dirty="0">
                <a:solidFill>
                  <a:srgbClr val="1E293B"/>
                </a:solidFill>
                <a:latin typeface="Calibri" pitchFamily="34" charset="0"/>
                <a:ea typeface="Calibri" pitchFamily="34" charset="-122"/>
                <a:cs typeface="Calibri" pitchFamily="34" charset="-120"/>
              </a:rPr>
              <a:t>中国预测模型工具化 · qHBsAg动态监测 · 5年数据支撑疗效评估</a:t>
            </a:r>
            <a:endParaRPr lang="en-US" sz="900" dirty="0"/>
          </a:p>
        </p:txBody>
      </p:sp>
      <p:sp>
        <p:nvSpPr>
          <p:cNvPr id="21" name="Shape 18"/>
          <p:cNvSpPr/>
          <p:nvPr/>
        </p:nvSpPr>
        <p:spPr>
          <a:xfrm>
            <a:off x="457200" y="2331720"/>
            <a:ext cx="4846320" cy="566928"/>
          </a:xfrm>
          <a:prstGeom prst="roundRect">
            <a:avLst>
              <a:gd name="adj" fmla="val 6452"/>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22" name="Shape 19"/>
          <p:cNvSpPr/>
          <p:nvPr/>
        </p:nvSpPr>
        <p:spPr>
          <a:xfrm>
            <a:off x="457200" y="2331720"/>
            <a:ext cx="54864" cy="566928"/>
          </a:xfrm>
          <a:prstGeom prst="rect">
            <a:avLst/>
          </a:prstGeom>
          <a:solidFill>
            <a:srgbClr val="0D7A6F"/>
          </a:solidFill>
          <a:ln/>
        </p:spPr>
      </p:sp>
      <p:sp>
        <p:nvSpPr>
          <p:cNvPr id="23" name="Shape 20"/>
          <p:cNvSpPr/>
          <p:nvPr/>
        </p:nvSpPr>
        <p:spPr>
          <a:xfrm>
            <a:off x="594360" y="2404872"/>
            <a:ext cx="384048" cy="384048"/>
          </a:xfrm>
          <a:prstGeom prst="ellipse">
            <a:avLst/>
          </a:prstGeom>
          <a:solidFill>
            <a:srgbClr val="0D7A6F"/>
          </a:solidFill>
          <a:ln/>
        </p:spPr>
      </p:sp>
      <p:sp>
        <p:nvSpPr>
          <p:cNvPr id="24" name="Text 21"/>
          <p:cNvSpPr/>
          <p:nvPr/>
        </p:nvSpPr>
        <p:spPr>
          <a:xfrm>
            <a:off x="594360" y="2404872"/>
            <a:ext cx="384048" cy="384048"/>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治</a:t>
            </a:r>
            <a:endParaRPr lang="en-US" sz="1400" dirty="0"/>
          </a:p>
        </p:txBody>
      </p:sp>
      <p:sp>
        <p:nvSpPr>
          <p:cNvPr id="25" name="Text 22"/>
          <p:cNvSpPr/>
          <p:nvPr/>
        </p:nvSpPr>
        <p:spPr>
          <a:xfrm>
            <a:off x="1097280" y="2377440"/>
            <a:ext cx="4114800" cy="475488"/>
          </a:xfrm>
          <a:prstGeom prst="rect">
            <a:avLst/>
          </a:prstGeom>
          <a:noFill/>
          <a:ln/>
        </p:spPr>
        <p:txBody>
          <a:bodyPr wrap="square" rtlCol="0" anchor="ctr">
            <a:normAutofit/>
          </a:bodyPr>
          <a:lstStyle/>
          <a:p>
            <a:pPr algn="l" indent="0" marL="0">
              <a:lnSpc>
                <a:spcPct val="125000"/>
              </a:lnSpc>
              <a:buNone/>
            </a:pPr>
            <a:r>
              <a:rPr lang="en-US" sz="900" dirty="0">
                <a:solidFill>
                  <a:srgbClr val="1E293B"/>
                </a:solidFill>
                <a:latin typeface="Calibri" pitchFamily="34" charset="0"/>
                <a:ea typeface="Calibri" pitchFamily="34" charset="-122"/>
                <a:cs typeface="Calibri" pitchFamily="34" charset="-120"/>
              </a:rPr>
              <a:t>"TMF+PEG-IFN"序贯方案 · 肝硬化差异化定位 · 新药联合定位</a:t>
            </a:r>
            <a:endParaRPr lang="en-US" sz="900" dirty="0"/>
          </a:p>
        </p:txBody>
      </p:sp>
      <p:sp>
        <p:nvSpPr>
          <p:cNvPr id="26" name="Shape 23"/>
          <p:cNvSpPr/>
          <p:nvPr/>
        </p:nvSpPr>
        <p:spPr>
          <a:xfrm>
            <a:off x="457200" y="2971800"/>
            <a:ext cx="4846320" cy="566928"/>
          </a:xfrm>
          <a:prstGeom prst="roundRect">
            <a:avLst>
              <a:gd name="adj" fmla="val 6452"/>
            </a:avLst>
          </a:prstGeom>
          <a:solidFill>
            <a:srgbClr val="FFFFFF"/>
          </a:solidFill>
          <a:ln w="12700">
            <a:solidFill>
              <a:srgbClr val="D1E0DD"/>
            </a:solidFill>
            <a:prstDash val="solid"/>
          </a:ln>
          <a:effectLst>
            <a:outerShdw sx="100000" sy="100000" kx="0" ky="0" algn="bl" rotWithShape="0" blurRad="38100" dist="0" dir="16200000">
              <a:srgbClr val="0D7A6F08">
                <a:alpha val="75000"/>
              </a:srgbClr>
            </a:outerShdw>
          </a:effectLst>
        </p:spPr>
      </p:sp>
      <p:sp>
        <p:nvSpPr>
          <p:cNvPr id="27" name="Shape 24"/>
          <p:cNvSpPr/>
          <p:nvPr/>
        </p:nvSpPr>
        <p:spPr>
          <a:xfrm>
            <a:off x="457200" y="2971800"/>
            <a:ext cx="54864" cy="566928"/>
          </a:xfrm>
          <a:prstGeom prst="rect">
            <a:avLst/>
          </a:prstGeom>
          <a:solidFill>
            <a:srgbClr val="E8742C"/>
          </a:solidFill>
          <a:ln/>
        </p:spPr>
      </p:sp>
      <p:sp>
        <p:nvSpPr>
          <p:cNvPr id="28" name="Shape 25"/>
          <p:cNvSpPr/>
          <p:nvPr/>
        </p:nvSpPr>
        <p:spPr>
          <a:xfrm>
            <a:off x="594360" y="3044952"/>
            <a:ext cx="384048" cy="384048"/>
          </a:xfrm>
          <a:prstGeom prst="ellipse">
            <a:avLst/>
          </a:prstGeom>
          <a:solidFill>
            <a:srgbClr val="E8742C"/>
          </a:solidFill>
          <a:ln/>
        </p:spPr>
      </p:sp>
      <p:sp>
        <p:nvSpPr>
          <p:cNvPr id="29" name="Text 26"/>
          <p:cNvSpPr/>
          <p:nvPr/>
        </p:nvSpPr>
        <p:spPr>
          <a:xfrm>
            <a:off x="594360" y="3044952"/>
            <a:ext cx="384048" cy="384048"/>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康</a:t>
            </a:r>
            <a:endParaRPr lang="en-US" sz="1400" dirty="0"/>
          </a:p>
        </p:txBody>
      </p:sp>
      <p:sp>
        <p:nvSpPr>
          <p:cNvPr id="30" name="Text 27"/>
          <p:cNvSpPr/>
          <p:nvPr/>
        </p:nvSpPr>
        <p:spPr>
          <a:xfrm>
            <a:off x="1097280" y="3017520"/>
            <a:ext cx="4114800" cy="475488"/>
          </a:xfrm>
          <a:prstGeom prst="rect">
            <a:avLst/>
          </a:prstGeom>
          <a:noFill/>
          <a:ln/>
        </p:spPr>
        <p:txBody>
          <a:bodyPr wrap="square" rtlCol="0" anchor="ctr">
            <a:normAutofit/>
          </a:bodyPr>
          <a:lstStyle/>
          <a:p>
            <a:pPr algn="l" indent="0" marL="0">
              <a:lnSpc>
                <a:spcPct val="125000"/>
              </a:lnSpc>
              <a:buNone/>
            </a:pPr>
            <a:r>
              <a:rPr lang="en-US" sz="900" dirty="0">
                <a:solidFill>
                  <a:srgbClr val="1E293B"/>
                </a:solidFill>
                <a:latin typeface="Calibri" pitchFamily="34" charset="0"/>
                <a:ea typeface="Calibri" pitchFamily="34" charset="-122"/>
                <a:cs typeface="Calibri" pitchFamily="34" charset="-120"/>
              </a:rPr>
              <a:t>长期安全管理 · 纤维化逆转监测 · HCC分层监测 · 零耐药品牌背书</a:t>
            </a:r>
            <a:endParaRPr lang="en-US" sz="900" dirty="0"/>
          </a:p>
        </p:txBody>
      </p:sp>
      <p:sp>
        <p:nvSpPr>
          <p:cNvPr id="31" name="Shape 28"/>
          <p:cNvSpPr/>
          <p:nvPr/>
        </p:nvSpPr>
        <p:spPr>
          <a:xfrm>
            <a:off x="5760720" y="1051560"/>
            <a:ext cx="2926080" cy="2377440"/>
          </a:xfrm>
          <a:prstGeom prst="roundRect">
            <a:avLst>
              <a:gd name="adj" fmla="val 2308"/>
            </a:avLst>
          </a:prstGeom>
          <a:solidFill>
            <a:srgbClr val="FFFFFF"/>
          </a:solidFill>
          <a:ln w="12700">
            <a:solidFill>
              <a:srgbClr val="D1E0DD"/>
            </a:solidFill>
            <a:prstDash val="solid"/>
          </a:ln>
          <a:effectLst>
            <a:outerShdw sx="100000" sy="100000" kx="0" ky="0" algn="bl" rotWithShape="0" blurRad="50800" dist="0" dir="16200000">
              <a:srgbClr val="0D7A6F10">
                <a:alpha val="75000"/>
              </a:srgbClr>
            </a:outerShdw>
          </a:effectLst>
        </p:spPr>
      </p:sp>
      <p:sp>
        <p:nvSpPr>
          <p:cNvPr id="32" name="Text 29"/>
          <p:cNvSpPr/>
          <p:nvPr/>
        </p:nvSpPr>
        <p:spPr>
          <a:xfrm>
            <a:off x="5897880" y="1143000"/>
            <a:ext cx="2651760" cy="228600"/>
          </a:xfrm>
          <a:prstGeom prst="rect">
            <a:avLst/>
          </a:prstGeom>
          <a:noFill/>
          <a:ln/>
        </p:spPr>
        <p:txBody>
          <a:bodyPr wrap="square" rtlCol="0" anchor="ctr">
            <a:normAutofit/>
          </a:bodyPr>
          <a:lstStyle/>
          <a:p>
            <a:pPr algn="ctr" indent="0" marL="0">
              <a:buNone/>
            </a:pPr>
            <a:r>
              <a:rPr lang="en-US" sz="1000" b="1" dirty="0">
                <a:solidFill>
                  <a:srgbClr val="1E293B"/>
                </a:solidFill>
                <a:latin typeface="Calibri" pitchFamily="34" charset="0"/>
                <a:ea typeface="Calibri" pitchFamily="34" charset="-122"/>
                <a:cs typeface="Calibri" pitchFamily="34" charset="-120"/>
              </a:rPr>
              <a:t>策略行动优先级分布</a:t>
            </a:r>
            <a:endParaRPr lang="en-US" sz="1000" dirty="0"/>
          </a:p>
        </p:txBody>
      </p:sp>
      <p:sp>
        <p:nvSpPr>
          <p:cNvPr id="33" name="Shape 30"/>
          <p:cNvSpPr/>
          <p:nvPr/>
        </p:nvSpPr>
        <p:spPr>
          <a:xfrm>
            <a:off x="5760720" y="3566160"/>
            <a:ext cx="2926080" cy="868680"/>
          </a:xfrm>
          <a:prstGeom prst="roundRect">
            <a:avLst>
              <a:gd name="adj" fmla="val 6316"/>
            </a:avLst>
          </a:prstGeom>
          <a:solidFill>
            <a:srgbClr val="E8F4F2"/>
          </a:solidFill>
          <a:ln w="12700">
            <a:solidFill>
              <a:srgbClr val="0D7A6F"/>
            </a:solidFill>
            <a:prstDash val="solid"/>
          </a:ln>
        </p:spPr>
      </p:sp>
      <p:sp>
        <p:nvSpPr>
          <p:cNvPr id="34" name="Shape 31"/>
          <p:cNvSpPr/>
          <p:nvPr/>
        </p:nvSpPr>
        <p:spPr>
          <a:xfrm>
            <a:off x="5760720" y="3566160"/>
            <a:ext cx="54864" cy="868680"/>
          </a:xfrm>
          <a:prstGeom prst="rect">
            <a:avLst/>
          </a:prstGeom>
          <a:solidFill>
            <a:srgbClr val="0D7A6F"/>
          </a:solidFill>
          <a:ln/>
        </p:spPr>
      </p:sp>
      <p:sp>
        <p:nvSpPr>
          <p:cNvPr id="35" name="Text 32"/>
          <p:cNvSpPr/>
          <p:nvPr/>
        </p:nvSpPr>
        <p:spPr>
          <a:xfrm>
            <a:off x="5897880" y="3611880"/>
            <a:ext cx="2651760" cy="201168"/>
          </a:xfrm>
          <a:prstGeom prst="rect">
            <a:avLst/>
          </a:prstGeom>
          <a:noFill/>
          <a:ln/>
        </p:spPr>
        <p:txBody>
          <a:bodyPr wrap="square" rtlCol="0" anchor="ctr">
            <a:normAutofit/>
          </a:bodyPr>
          <a:lstStyle/>
          <a:p>
            <a:pPr algn="l" indent="0" marL="0">
              <a:buNone/>
            </a:pPr>
            <a:r>
              <a:rPr lang="en-US" sz="800" b="1" dirty="0">
                <a:solidFill>
                  <a:srgbClr val="0D7A6F"/>
                </a:solidFill>
                <a:latin typeface="Calibri" pitchFamily="34" charset="0"/>
                <a:ea typeface="Calibri" pitchFamily="34" charset="-122"/>
                <a:cs typeface="Calibri" pitchFamily="34" charset="-120"/>
              </a:rPr>
              <a:t>恒沐® 核心数据</a:t>
            </a:r>
            <a:endParaRPr lang="en-US" sz="800" dirty="0"/>
          </a:p>
        </p:txBody>
      </p:sp>
      <p:sp>
        <p:nvSpPr>
          <p:cNvPr id="36" name="Text 33"/>
          <p:cNvSpPr/>
          <p:nvPr/>
        </p:nvSpPr>
        <p:spPr>
          <a:xfrm>
            <a:off x="5897880" y="3822192"/>
            <a:ext cx="2651760" cy="502920"/>
          </a:xfrm>
          <a:prstGeom prst="rect">
            <a:avLst/>
          </a:prstGeom>
          <a:noFill/>
          <a:ln/>
        </p:spPr>
        <p:txBody>
          <a:bodyPr wrap="square" rtlCol="0" anchor="ctr">
            <a:normAutofit/>
          </a:bodyPr>
          <a:lstStyle/>
          <a:p>
            <a:pPr algn="l" indent="0" marL="0">
              <a:lnSpc>
                <a:spcPct val="130000"/>
              </a:lnSpc>
              <a:buNone/>
            </a:pPr>
            <a:r>
              <a:rPr lang="en-US" sz="900" dirty="0">
                <a:solidFill>
                  <a:srgbClr val="0A4A45"/>
                </a:solidFill>
                <a:latin typeface="Calibri" pitchFamily="34" charset="0"/>
                <a:ea typeface="Calibri" pitchFamily="34" charset="-122"/>
                <a:cs typeface="Calibri" pitchFamily="34" charset="-120"/>
              </a:rPr>
              <a:t>95% HBV DNA抑制 · 0%耐药 · 86.8%肝硬化ALT复常 · 骨肾安全</a:t>
            </a:r>
            <a:endParaRPr lang="en-US" sz="900" dirty="0"/>
          </a:p>
        </p:txBody>
      </p:sp>
      <p:sp>
        <p:nvSpPr>
          <p:cNvPr id="37" name="Shape 34"/>
          <p:cNvSpPr/>
          <p:nvPr/>
        </p:nvSpPr>
        <p:spPr>
          <a:xfrm>
            <a:off x="2743200" y="4480560"/>
            <a:ext cx="3657600" cy="27432"/>
          </a:xfrm>
          <a:prstGeom prst="rect">
            <a:avLst/>
          </a:prstGeom>
          <a:solidFill>
            <a:srgbClr val="E8742C"/>
          </a:solidFill>
          <a:ln/>
        </p:spPr>
      </p:sp>
      <p:sp>
        <p:nvSpPr>
          <p:cNvPr id="38" name="Text 35"/>
          <p:cNvSpPr/>
          <p:nvPr/>
        </p:nvSpPr>
        <p:spPr>
          <a:xfrm>
            <a:off x="457200" y="4572000"/>
            <a:ext cx="8229600" cy="256032"/>
          </a:xfrm>
          <a:prstGeom prst="rect">
            <a:avLst/>
          </a:prstGeom>
          <a:noFill/>
          <a:ln/>
        </p:spPr>
        <p:txBody>
          <a:bodyPr wrap="square" rtlCol="0" anchor="ctr">
            <a:normAutofit/>
          </a:bodyPr>
          <a:lstStyle/>
          <a:p>
            <a:pPr algn="ctr" indent="0" marL="0">
              <a:buNone/>
            </a:pPr>
            <a:r>
              <a:rPr lang="en-US" sz="1100" dirty="0">
                <a:solidFill>
                  <a:srgbClr val="0A4A45"/>
                </a:solidFill>
                <a:latin typeface="Georgia" pitchFamily="34" charset="0"/>
                <a:ea typeface="Georgia" pitchFamily="34" charset="-122"/>
                <a:cs typeface="Georgia" pitchFamily="34" charset="-120"/>
              </a:rPr>
              <a:t>恒沐® 艾米替诺福韦 · 中国首个原研口服抗HBV药物</a:t>
            </a:r>
            <a:endParaRPr lang="en-US" sz="1100" dirty="0"/>
          </a:p>
        </p:txBody>
      </p:sp>
      <p:sp>
        <p:nvSpPr>
          <p:cNvPr id="39" name="Text 36"/>
          <p:cNvSpPr/>
          <p:nvPr/>
        </p:nvSpPr>
        <p:spPr>
          <a:xfrm>
            <a:off x="457200" y="4846320"/>
            <a:ext cx="8229600" cy="201168"/>
          </a:xfrm>
          <a:prstGeom prst="rect">
            <a:avLst/>
          </a:prstGeom>
          <a:noFill/>
          <a:ln/>
        </p:spPr>
        <p:txBody>
          <a:bodyPr wrap="square" rtlCol="0" anchor="ctr">
            <a:normAutofit/>
          </a:bodyPr>
          <a:lstStyle/>
          <a:p>
            <a:pPr algn="ctr" indent="0" marL="0">
              <a:buNone/>
            </a:pPr>
            <a:r>
              <a:rPr lang="en-US" sz="800" dirty="0">
                <a:solidFill>
                  <a:srgbClr val="64748B"/>
                </a:solidFill>
                <a:latin typeface="Calibri" pitchFamily="34" charset="0"/>
                <a:ea typeface="Calibri" pitchFamily="34" charset="-122"/>
                <a:cs typeface="Calibri" pitchFamily="34" charset="-120"/>
              </a:rPr>
              <a:t>基于49篇文献 · 10项策略行动建议 · 翰森制药中央市场部 · 2026-08-27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恒沐® 乙肝筛诊治康文献洞察与产品策略</dc:title>
  <dc:subject>PptxGenJS Presentation</dc:subject>
  <dc:creator>TRAE Work</dc:creator>
  <cp:lastModifiedBy>TRAE Work</cp:lastModifiedBy>
  <cp:revision>1</cp:revision>
  <dcterms:created xsi:type="dcterms:W3CDTF">2026-08-27T05:41:10Z</dcterms:created>
  <dcterms:modified xsi:type="dcterms:W3CDTF">2026-08-27T05:41:10Z</dcterms:modified>
</cp:coreProperties>
</file>